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60" r:id="rId4"/>
    <p:sldId id="264" r:id="rId5"/>
    <p:sldId id="279" r:id="rId6"/>
    <p:sldId id="276" r:id="rId7"/>
    <p:sldId id="266" r:id="rId8"/>
    <p:sldId id="258" r:id="rId9"/>
    <p:sldId id="277" r:id="rId10"/>
    <p:sldId id="271" r:id="rId11"/>
    <p:sldId id="278" r:id="rId12"/>
    <p:sldId id="269" r:id="rId13"/>
    <p:sldId id="270" r:id="rId14"/>
    <p:sldId id="273" r:id="rId15"/>
    <p:sldId id="27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70458" autoAdjust="0"/>
  </p:normalViewPr>
  <p:slideViewPr>
    <p:cSldViewPr snapToGrid="0" snapToObjects="1">
      <p:cViewPr varScale="1">
        <p:scale>
          <a:sx n="68" d="100"/>
          <a:sy n="68" d="100"/>
        </p:scale>
        <p:origin x="1229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ran Melihov" userId="f041ce8b-bb7f-4933-88c4-dfda60f6e750" providerId="ADAL" clId="{600D4674-FC2B-4A35-AB45-3C4B9A298F10}"/>
    <pc:docChg chg="undo custSel modSld">
      <pc:chgData name="Eliran Melihov" userId="f041ce8b-bb7f-4933-88c4-dfda60f6e750" providerId="ADAL" clId="{600D4674-FC2B-4A35-AB45-3C4B9A298F10}" dt="2026-07-05T07:45:15.866" v="22" actId="20577"/>
      <pc:docMkLst>
        <pc:docMk/>
      </pc:docMkLst>
      <pc:sldChg chg="modSp mod">
        <pc:chgData name="Eliran Melihov" userId="f041ce8b-bb7f-4933-88c4-dfda60f6e750" providerId="ADAL" clId="{600D4674-FC2B-4A35-AB45-3C4B9A298F10}" dt="2026-06-10T08:08:38.092" v="10" actId="403"/>
        <pc:sldMkLst>
          <pc:docMk/>
          <pc:sldMk cId="0" sldId="256"/>
        </pc:sldMkLst>
        <pc:spChg chg="mod">
          <ac:chgData name="Eliran Melihov" userId="f041ce8b-bb7f-4933-88c4-dfda60f6e750" providerId="ADAL" clId="{600D4674-FC2B-4A35-AB45-3C4B9A298F10}" dt="2026-06-10T08:08:24.832" v="6" actId="403"/>
          <ac:spMkLst>
            <pc:docMk/>
            <pc:sldMk cId="0" sldId="256"/>
            <ac:spMk id="8" creationId="{00000000-0000-0000-0000-000000000000}"/>
          </ac:spMkLst>
        </pc:spChg>
        <pc:spChg chg="mod">
          <ac:chgData name="Eliran Melihov" userId="f041ce8b-bb7f-4933-88c4-dfda60f6e750" providerId="ADAL" clId="{600D4674-FC2B-4A35-AB45-3C4B9A298F10}" dt="2026-06-10T08:08:38.092" v="10" actId="403"/>
          <ac:spMkLst>
            <pc:docMk/>
            <pc:sldMk cId="0" sldId="256"/>
            <ac:spMk id="10" creationId="{00000000-0000-0000-0000-000000000000}"/>
          </ac:spMkLst>
        </pc:spChg>
      </pc:sldChg>
      <pc:sldChg chg="modNotesTx">
        <pc:chgData name="Eliran Melihov" userId="f041ce8b-bb7f-4933-88c4-dfda60f6e750" providerId="ADAL" clId="{600D4674-FC2B-4A35-AB45-3C4B9A298F10}" dt="2026-07-05T07:45:15.866" v="22" actId="20577"/>
        <pc:sldMkLst>
          <pc:docMk/>
          <pc:sldMk cId="0" sldId="258"/>
        </pc:sldMkLst>
      </pc:sldChg>
      <pc:sldChg chg="modSp mod">
        <pc:chgData name="Eliran Melihov" userId="f041ce8b-bb7f-4933-88c4-dfda60f6e750" providerId="ADAL" clId="{600D4674-FC2B-4A35-AB45-3C4B9A298F10}" dt="2026-06-20T08:50:30.356" v="15" actId="20577"/>
        <pc:sldMkLst>
          <pc:docMk/>
          <pc:sldMk cId="0" sldId="259"/>
        </pc:sldMkLst>
        <pc:spChg chg="mod">
          <ac:chgData name="Eliran Melihov" userId="f041ce8b-bb7f-4933-88c4-dfda60f6e750" providerId="ADAL" clId="{600D4674-FC2B-4A35-AB45-3C4B9A298F10}" dt="2026-06-20T08:50:30.356" v="15" actId="20577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Eliran Melihov" userId="f041ce8b-bb7f-4933-88c4-dfda60f6e750" providerId="ADAL" clId="{600D4674-FC2B-4A35-AB45-3C4B9A298F10}" dt="2026-06-16T15:19:16.776" v="14" actId="14100"/>
        <pc:sldMkLst>
          <pc:docMk/>
          <pc:sldMk cId="0" sldId="264"/>
        </pc:sldMkLst>
      </pc:sldChg>
      <pc:sldChg chg="modSp mod">
        <pc:chgData name="Eliran Melihov" userId="f041ce8b-bb7f-4933-88c4-dfda60f6e750" providerId="ADAL" clId="{600D4674-FC2B-4A35-AB45-3C4B9A298F10}" dt="2026-07-04T21:36:01.275" v="21" actId="14100"/>
        <pc:sldMkLst>
          <pc:docMk/>
          <pc:sldMk cId="0" sldId="266"/>
        </pc:sldMkLst>
        <pc:picChg chg="mod">
          <ac:chgData name="Eliran Melihov" userId="f041ce8b-bb7f-4933-88c4-dfda60f6e750" providerId="ADAL" clId="{600D4674-FC2B-4A35-AB45-3C4B9A298F10}" dt="2026-07-04T21:36:01.275" v="21" actId="14100"/>
          <ac:picMkLst>
            <pc:docMk/>
            <pc:sldMk cId="0" sldId="266"/>
            <ac:picMk id="11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2467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b="0" i="0" dirty="0"/>
              <a:t>We are Eliran and Miron, and this is our Phase-A project: </a:t>
            </a:r>
            <a:r>
              <a:rPr sz="1400" b="1" i="0" dirty="0"/>
              <a:t>Multi-Modal LLM Style Analysis</a:t>
            </a:r>
            <a:r>
              <a:rPr sz="1400" b="0" i="0" dirty="0"/>
              <a:t>.</a:t>
            </a:r>
          </a:p>
          <a:p>
            <a:endParaRPr sz="1400" b="0" i="0" dirty="0"/>
          </a:p>
          <a:p>
            <a:r>
              <a:rPr sz="1400" b="0" i="0" dirty="0"/>
              <a:t>In one sentence: we designed a method that uses a large language model to find which creations in the Shakespeare corpus may not be </a:t>
            </a:r>
            <a:r>
              <a:rPr sz="1400" b="0" i="0"/>
              <a:t>his </a:t>
            </a:r>
            <a:r>
              <a:rPr lang="en-IL" sz="1400" b="0" i="0"/>
              <a:t>-</a:t>
            </a:r>
            <a:r>
              <a:rPr sz="1400" b="0" i="0"/>
              <a:t> </a:t>
            </a:r>
            <a:r>
              <a:rPr sz="1400" b="0" i="0" dirty="0"/>
              <a:t>no training, no labels.</a:t>
            </a:r>
          </a:p>
          <a:p>
            <a:endParaRPr sz="1400" b="0" i="0" dirty="0"/>
          </a:p>
          <a:p>
            <a:r>
              <a:rPr sz="1400" b="0" i="0" dirty="0"/>
              <a:t>Our supervisors are Dr. Renata </a:t>
            </a:r>
            <a:r>
              <a:rPr sz="1400" b="0" i="0" dirty="0" err="1"/>
              <a:t>Avros</a:t>
            </a:r>
            <a:r>
              <a:rPr sz="1400" b="0" i="0" dirty="0"/>
              <a:t> and Professor Zeev </a:t>
            </a:r>
            <a:r>
              <a:rPr sz="1400" b="0" i="0" dirty="0" err="1"/>
              <a:t>Volkovich</a:t>
            </a:r>
            <a:r>
              <a:rPr sz="1400" b="0" i="0" dirty="0"/>
              <a:t>, and this project continues their own study from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400" b="0" i="0" dirty="0"/>
              <a:t>Let's start with the problem.</a:t>
            </a:r>
          </a:p>
          <a:p>
            <a:r>
              <a:rPr sz="1400" b="0" i="0" dirty="0"/>
              <a:t>Forty-nine creations are attributed to Shakespeare.</a:t>
            </a:r>
          </a:p>
          <a:p>
            <a:r>
              <a:rPr sz="1400" b="0" i="0" dirty="0"/>
              <a:t>Which of them are really </a:t>
            </a:r>
            <a:r>
              <a:rPr sz="1400" b="0" i="0"/>
              <a:t>his </a:t>
            </a:r>
            <a:r>
              <a:rPr lang="en-IL" sz="1400" b="0" i="0"/>
              <a:t>-</a:t>
            </a:r>
            <a:r>
              <a:rPr sz="1400" b="0" i="0"/>
              <a:t> </a:t>
            </a:r>
            <a:r>
              <a:rPr sz="1400" b="0" i="0" dirty="0"/>
              <a:t>and which show another hand?</a:t>
            </a:r>
          </a:p>
          <a:p>
            <a:endParaRPr sz="1400" b="0" i="0" dirty="0"/>
          </a:p>
          <a:p>
            <a:r>
              <a:rPr sz="1400" b="0" i="0" dirty="0"/>
              <a:t>We asked a simple question: what would the </a:t>
            </a:r>
            <a:r>
              <a:rPr sz="1400" b="1" i="0" dirty="0"/>
              <a:t>ideal</a:t>
            </a:r>
            <a:r>
              <a:rPr sz="1400" b="0" i="0" dirty="0"/>
              <a:t> tool look like?</a:t>
            </a:r>
          </a:p>
          <a:p>
            <a:r>
              <a:rPr sz="1400" b="0" i="0" dirty="0"/>
              <a:t>It would have three properties.</a:t>
            </a:r>
          </a:p>
          <a:p>
            <a:endParaRPr sz="1400" b="0" i="0" dirty="0"/>
          </a:p>
          <a:p>
            <a:r>
              <a:rPr sz="1400" b="0" i="0"/>
              <a:t>First </a:t>
            </a:r>
            <a:r>
              <a:rPr lang="en-IL" sz="1400" b="0" i="0"/>
              <a:t>-</a:t>
            </a:r>
            <a:r>
              <a:rPr sz="1400" b="0" i="0"/>
              <a:t> </a:t>
            </a:r>
            <a:r>
              <a:rPr sz="1400" b="0" i="0" dirty="0"/>
              <a:t>it </a:t>
            </a:r>
            <a:r>
              <a:rPr sz="1400" b="1" i="0" dirty="0"/>
              <a:t>judges a text on its own</a:t>
            </a:r>
            <a:r>
              <a:rPr sz="1400" b="0" i="0" dirty="0"/>
              <a:t>.</a:t>
            </a:r>
          </a:p>
          <a:p>
            <a:r>
              <a:rPr sz="1400" b="0" i="0" dirty="0"/>
              <a:t>No pool of other </a:t>
            </a:r>
            <a:r>
              <a:rPr sz="1400" b="0" i="0"/>
              <a:t>authors </a:t>
            </a:r>
            <a:r>
              <a:rPr lang="en-IL" sz="1400" b="0" i="0"/>
              <a:t>-</a:t>
            </a:r>
            <a:r>
              <a:rPr sz="1400" b="0" i="0"/>
              <a:t> </a:t>
            </a:r>
            <a:r>
              <a:rPr sz="1400" b="0" i="0" dirty="0"/>
              <a:t>and nothing to rebuild for a new author.</a:t>
            </a:r>
          </a:p>
          <a:p>
            <a:r>
              <a:rPr sz="1400" b="0" i="0"/>
              <a:t>Second </a:t>
            </a:r>
            <a:r>
              <a:rPr lang="en-IL" sz="1400" b="0" i="0"/>
              <a:t>-</a:t>
            </a:r>
            <a:r>
              <a:rPr sz="1400" b="0" i="0"/>
              <a:t> </a:t>
            </a:r>
            <a:r>
              <a:rPr sz="1400" b="0" i="0" dirty="0"/>
              <a:t>it </a:t>
            </a:r>
            <a:r>
              <a:rPr sz="1400" b="1" i="0" dirty="0"/>
              <a:t>needs no training</a:t>
            </a:r>
            <a:r>
              <a:rPr sz="1400" b="0" i="0" dirty="0"/>
              <a:t>.</a:t>
            </a:r>
          </a:p>
          <a:p>
            <a:r>
              <a:rPr sz="1400" b="0" i="0" dirty="0"/>
              <a:t>No labeled examples, no models to </a:t>
            </a:r>
            <a:r>
              <a:rPr sz="1400" b="0" i="0"/>
              <a:t>train </a:t>
            </a:r>
            <a:r>
              <a:rPr lang="en-IL" sz="1400" b="0" i="0"/>
              <a:t>-</a:t>
            </a:r>
            <a:r>
              <a:rPr sz="1400" b="0" i="0"/>
              <a:t> </a:t>
            </a:r>
            <a:r>
              <a:rPr sz="1400" b="0" i="0" dirty="0"/>
              <a:t>it works out of the box.</a:t>
            </a:r>
          </a:p>
          <a:p>
            <a:r>
              <a:rPr sz="1400" b="0" i="0"/>
              <a:t>Third </a:t>
            </a:r>
            <a:r>
              <a:rPr lang="en-IL" sz="1400" b="0" i="0"/>
              <a:t>-</a:t>
            </a:r>
            <a:r>
              <a:rPr sz="1400" b="0" i="0"/>
              <a:t> </a:t>
            </a:r>
            <a:r>
              <a:rPr sz="1400" b="0" i="0" dirty="0"/>
              <a:t>it </a:t>
            </a:r>
            <a:r>
              <a:rPr sz="1400" b="1" i="0" dirty="0"/>
              <a:t>explains itself</a:t>
            </a:r>
            <a:r>
              <a:rPr sz="1400" b="0" i="0" dirty="0"/>
              <a:t>.</a:t>
            </a:r>
          </a:p>
          <a:p>
            <a:r>
              <a:rPr sz="1400" b="0" i="0" dirty="0"/>
              <a:t>A literary scholar can read the result in plain stylistic terms, not just a score.</a:t>
            </a:r>
          </a:p>
          <a:p>
            <a:endParaRPr sz="1400" b="0" i="0" dirty="0"/>
          </a:p>
          <a:p>
            <a:r>
              <a:rPr sz="1400" b="0" i="0" dirty="0"/>
              <a:t>And here is the gap: today's methods rarely give all three at once.</a:t>
            </a:r>
          </a:p>
          <a:p>
            <a:r>
              <a:rPr sz="1400" b="0" i="0" dirty="0"/>
              <a:t>So we set out to build one that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400" b="0" i="0"/>
              <a:t>From that gap, we set five goals.</a:t>
            </a:r>
          </a:p>
          <a:p>
            <a:endParaRPr sz="1400" b="0" i="0"/>
          </a:p>
          <a:p>
            <a:r>
              <a:rPr sz="1400" b="0" i="0"/>
              <a:t>Three of them are exactly the three properties you just saw </a:t>
            </a:r>
            <a:r>
              <a:rPr lang="en-IL" sz="1400" b="0" i="0"/>
              <a:t>-</a:t>
            </a:r>
            <a:r>
              <a:rPr sz="1400" b="0" i="0"/>
              <a:t> now we commit to them.</a:t>
            </a:r>
          </a:p>
          <a:p>
            <a:r>
              <a:rPr sz="1400" b="0" i="0"/>
              <a:t>An </a:t>
            </a:r>
            <a:r>
              <a:rPr sz="1400" b="1" i="0"/>
              <a:t>unsupervised, zero-shot</a:t>
            </a:r>
            <a:r>
              <a:rPr sz="1400" b="0" i="0"/>
              <a:t> pipeline </a:t>
            </a:r>
            <a:r>
              <a:rPr lang="en-IL" sz="1400" b="0" i="0"/>
              <a:t>-</a:t>
            </a:r>
            <a:r>
              <a:rPr sz="1400" b="0" i="0"/>
              <a:t> no labels, no training.</a:t>
            </a:r>
          </a:p>
          <a:p>
            <a:r>
              <a:rPr sz="1400" b="1" i="0"/>
              <a:t>Interpretable</a:t>
            </a:r>
            <a:r>
              <a:rPr sz="1400" b="0" i="0"/>
              <a:t> output </a:t>
            </a:r>
            <a:r>
              <a:rPr lang="en-IL" sz="1400" b="0" i="0"/>
              <a:t>-</a:t>
            </a:r>
            <a:r>
              <a:rPr sz="1400" b="0" i="0"/>
              <a:t> a score per creation, in plain stylistic terms.</a:t>
            </a:r>
          </a:p>
          <a:p>
            <a:r>
              <a:rPr sz="1400" b="0" i="0"/>
              <a:t>And </a:t>
            </a:r>
            <a:r>
              <a:rPr sz="1400" b="1" i="0"/>
              <a:t>generality</a:t>
            </a:r>
            <a:r>
              <a:rPr sz="1400" b="0" i="0"/>
              <a:t> </a:t>
            </a:r>
            <a:r>
              <a:rPr lang="en-IL" sz="1400" b="0" i="0"/>
              <a:t>-</a:t>
            </a:r>
            <a:r>
              <a:rPr sz="1400" b="0" i="0"/>
              <a:t> swap the corpus, and the same pipeline works for any author.</a:t>
            </a:r>
          </a:p>
          <a:p>
            <a:r>
              <a:rPr sz="1400" b="0" i="0"/>
              <a:t>Nothing says 'Shakespeare' in the code.</a:t>
            </a:r>
          </a:p>
          <a:p>
            <a:endParaRPr sz="1400" b="0" i="0"/>
          </a:p>
          <a:p>
            <a:r>
              <a:rPr sz="1400" b="0" i="0"/>
              <a:t>The other two go beyond the tool itself.</a:t>
            </a:r>
          </a:p>
          <a:p>
            <a:r>
              <a:rPr sz="1400" b="0" i="0"/>
              <a:t>A </a:t>
            </a:r>
            <a:r>
              <a:rPr sz="1400" b="1" i="0"/>
              <a:t>cross-check</a:t>
            </a:r>
            <a:r>
              <a:rPr sz="1400" b="0" i="0"/>
              <a:t>: we compare our results with existing stylometry on the same corpus </a:t>
            </a:r>
            <a:r>
              <a:rPr lang="en-IL" sz="1400" b="0" i="0"/>
              <a:t>-</a:t>
            </a:r>
            <a:r>
              <a:rPr sz="1400" b="0" i="0"/>
              <a:t> when two independent methods agree, the evidence is stronger.</a:t>
            </a:r>
          </a:p>
          <a:p>
            <a:r>
              <a:rPr sz="1400" b="0" i="0"/>
              <a:t>And </a:t>
            </a:r>
            <a:r>
              <a:rPr sz="1400" b="1" i="0"/>
              <a:t>open-source, reproducible</a:t>
            </a:r>
            <a:r>
              <a:rPr sz="1400" b="0" i="0"/>
              <a:t> code that others can reuse </a:t>
            </a:r>
            <a:r>
              <a:rPr lang="en-IL" sz="1400" b="0" i="0"/>
              <a:t>-</a:t>
            </a:r>
            <a:r>
              <a:rPr sz="1400" b="0" i="0"/>
              <a:t> every run logged, one command to repeat.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400" b="0" i="0" dirty="0"/>
              <a:t>Here is the whole method in one picture.</a:t>
            </a:r>
          </a:p>
          <a:p>
            <a:r>
              <a:rPr sz="1400" b="0" i="0" dirty="0"/>
              <a:t>Let me walk through it </a:t>
            </a:r>
            <a:r>
              <a:rPr sz="1400" b="0" i="0"/>
              <a:t>quickly </a:t>
            </a:r>
            <a:r>
              <a:rPr lang="en-IL" sz="1400" b="0" i="0"/>
              <a:t>-</a:t>
            </a:r>
            <a:r>
              <a:rPr sz="1400" b="0" i="0"/>
              <a:t> </a:t>
            </a:r>
            <a:r>
              <a:rPr sz="1400" b="0" i="0" dirty="0"/>
              <a:t>the next slides explain each step in depth.</a:t>
            </a:r>
          </a:p>
          <a:p>
            <a:endParaRPr sz="1400" b="0" i="0" dirty="0"/>
          </a:p>
          <a:p>
            <a:r>
              <a:rPr sz="1400" b="0" i="0" dirty="0"/>
              <a:t>Step </a:t>
            </a:r>
            <a:r>
              <a:rPr lang="en-US" sz="1400" b="0" i="0"/>
              <a:t>one</a:t>
            </a:r>
            <a:r>
              <a:rPr sz="1400" b="0" i="0"/>
              <a:t> </a:t>
            </a:r>
            <a:r>
              <a:rPr lang="en-IL" sz="1400" b="0" i="0"/>
              <a:t>-</a:t>
            </a:r>
            <a:r>
              <a:rPr sz="1400" b="0" i="0"/>
              <a:t> </a:t>
            </a:r>
            <a:r>
              <a:rPr sz="1400" b="1" i="0" dirty="0"/>
              <a:t>profile</a:t>
            </a:r>
            <a:r>
              <a:rPr sz="1400" b="0" i="0" dirty="0"/>
              <a:t>.</a:t>
            </a:r>
            <a:r>
              <a:rPr lang="en-US" sz="1400" b="0" i="0" dirty="0"/>
              <a:t> </a:t>
            </a:r>
            <a:r>
              <a:rPr sz="1400" b="0" i="0" dirty="0"/>
              <a:t>The model reads the whole corpus and writes one style profile.</a:t>
            </a:r>
          </a:p>
          <a:p>
            <a:r>
              <a:rPr sz="1400" b="0" i="0" dirty="0"/>
              <a:t>Step </a:t>
            </a:r>
            <a:r>
              <a:rPr sz="1400" b="0" i="0"/>
              <a:t>two </a:t>
            </a:r>
            <a:r>
              <a:rPr lang="en-IL" sz="1400" b="0" i="0"/>
              <a:t>-</a:t>
            </a:r>
            <a:r>
              <a:rPr sz="1400" b="0" i="0"/>
              <a:t> </a:t>
            </a:r>
            <a:r>
              <a:rPr sz="1400" b="1" i="0" dirty="0"/>
              <a:t>chunking</a:t>
            </a:r>
            <a:r>
              <a:rPr sz="1400" b="0" i="0" dirty="0"/>
              <a:t>.</a:t>
            </a:r>
            <a:r>
              <a:rPr lang="en-US" sz="1400" b="0" i="0" dirty="0"/>
              <a:t> </a:t>
            </a:r>
            <a:r>
              <a:rPr sz="1400" b="0" i="0" dirty="0"/>
              <a:t>We split every creation into chunks of about four hundred words.</a:t>
            </a:r>
          </a:p>
          <a:p>
            <a:r>
              <a:rPr sz="1400" b="0" i="0" dirty="0"/>
              <a:t>Step </a:t>
            </a:r>
            <a:r>
              <a:rPr sz="1400" b="0" i="0"/>
              <a:t>three </a:t>
            </a:r>
            <a:r>
              <a:rPr lang="en-IL" sz="1400" b="0" i="0"/>
              <a:t>-</a:t>
            </a:r>
            <a:r>
              <a:rPr sz="1400" b="0" i="0"/>
              <a:t> </a:t>
            </a:r>
            <a:r>
              <a:rPr sz="1400" b="1" i="0" dirty="0"/>
              <a:t>rewriting</a:t>
            </a:r>
            <a:r>
              <a:rPr sz="1400" b="0" i="0" dirty="0"/>
              <a:t>.</a:t>
            </a:r>
            <a:r>
              <a:rPr lang="en-US" sz="1400" b="0" i="0" dirty="0"/>
              <a:t> </a:t>
            </a:r>
            <a:r>
              <a:rPr sz="1400" b="0" i="0" dirty="0"/>
              <a:t>The model rewrites each chunk into the profile's </a:t>
            </a:r>
            <a:r>
              <a:rPr sz="1400" b="0" i="0"/>
              <a:t>style </a:t>
            </a:r>
            <a:r>
              <a:rPr lang="en-IL" sz="1400" b="0" i="0"/>
              <a:t>-</a:t>
            </a:r>
            <a:r>
              <a:rPr sz="1400" b="0" i="0"/>
              <a:t> </a:t>
            </a:r>
            <a:r>
              <a:rPr sz="1400" b="0" i="0" dirty="0"/>
              <a:t>keep the content, change only the style.</a:t>
            </a:r>
            <a:endParaRPr lang="en-US" sz="1400" b="0" i="0" dirty="0"/>
          </a:p>
          <a:p>
            <a:r>
              <a:rPr sz="1400" b="0" i="0" dirty="0"/>
              <a:t>Step </a:t>
            </a:r>
            <a:r>
              <a:rPr sz="1400" b="0" i="0"/>
              <a:t>four </a:t>
            </a:r>
            <a:r>
              <a:rPr lang="en-IL" sz="1400" b="0" i="0"/>
              <a:t>-</a:t>
            </a:r>
            <a:r>
              <a:rPr sz="1400" b="0" i="0"/>
              <a:t> </a:t>
            </a:r>
            <a:r>
              <a:rPr sz="1400" b="1" i="0" dirty="0"/>
              <a:t>the distance</a:t>
            </a:r>
            <a:r>
              <a:rPr sz="1400" b="0" i="0" dirty="0"/>
              <a:t>.</a:t>
            </a:r>
            <a:r>
              <a:rPr lang="en-US" sz="1400" b="0" i="0" dirty="0"/>
              <a:t> </a:t>
            </a:r>
            <a:r>
              <a:rPr sz="1400" b="0" i="0" dirty="0"/>
              <a:t>For each chunk we measure delta: how much the rewrite had to change.</a:t>
            </a:r>
          </a:p>
          <a:p>
            <a:r>
              <a:rPr sz="1400" b="0" i="0" dirty="0"/>
              <a:t>Step </a:t>
            </a:r>
            <a:r>
              <a:rPr sz="1400" b="0" i="0"/>
              <a:t>five </a:t>
            </a:r>
            <a:r>
              <a:rPr lang="en-IL" sz="1400" b="0" i="0"/>
              <a:t>-</a:t>
            </a:r>
            <a:r>
              <a:rPr sz="1400" b="0" i="0"/>
              <a:t> </a:t>
            </a:r>
            <a:r>
              <a:rPr sz="1400" b="1" i="0" dirty="0"/>
              <a:t>aggregation</a:t>
            </a:r>
            <a:r>
              <a:rPr sz="1400" b="0" i="0" dirty="0"/>
              <a:t>.</a:t>
            </a:r>
            <a:r>
              <a:rPr lang="en-US" sz="1400" b="0" i="0" dirty="0"/>
              <a:t> </a:t>
            </a:r>
            <a:r>
              <a:rPr sz="1400" b="0" i="0" dirty="0"/>
              <a:t>Chunk deltas become one score per creation, averaged over several independent </a:t>
            </a:r>
            <a:r>
              <a:rPr sz="1400" b="0" i="0"/>
              <a:t>runs </a:t>
            </a:r>
            <a:r>
              <a:rPr lang="en-IL" sz="1400" b="0" i="0"/>
              <a:t>-</a:t>
            </a:r>
            <a:r>
              <a:rPr sz="1400" b="0" i="0"/>
              <a:t> </a:t>
            </a:r>
            <a:r>
              <a:rPr sz="1400" b="0" i="0" dirty="0"/>
              <a:t>that is the loop in the diagram.</a:t>
            </a:r>
          </a:p>
          <a:p>
            <a:r>
              <a:rPr sz="1400" b="0" i="0" dirty="0"/>
              <a:t>From run two on, each run also adds one different noise creation, to test stability.</a:t>
            </a:r>
          </a:p>
          <a:p>
            <a:r>
              <a:rPr sz="1400" b="0" i="0" dirty="0"/>
              <a:t>Step </a:t>
            </a:r>
            <a:r>
              <a:rPr sz="1400" b="0" i="0"/>
              <a:t>six </a:t>
            </a:r>
            <a:r>
              <a:rPr lang="en-IL" sz="1400" b="0" i="0"/>
              <a:t>-</a:t>
            </a:r>
            <a:r>
              <a:rPr sz="1400" b="0" i="0"/>
              <a:t> </a:t>
            </a:r>
            <a:r>
              <a:rPr sz="1400" b="1" i="0" dirty="0"/>
              <a:t>the threshold</a:t>
            </a:r>
            <a:r>
              <a:rPr sz="1400" b="0" i="0" dirty="0"/>
              <a:t>.</a:t>
            </a:r>
            <a:r>
              <a:rPr lang="en-US" sz="1400" b="0" i="0" dirty="0"/>
              <a:t> </a:t>
            </a:r>
            <a:r>
              <a:rPr sz="1400" b="0" i="0" dirty="0"/>
              <a:t>One split of the forty-nine scores into authentic and suspicious.</a:t>
            </a:r>
          </a:p>
          <a:p>
            <a:r>
              <a:rPr sz="1400" b="0" i="0" dirty="0"/>
              <a:t>Single round, no feedback loop.</a:t>
            </a:r>
          </a:p>
          <a:p>
            <a:endParaRPr sz="1400" b="0" i="0" dirty="0"/>
          </a:p>
          <a:p>
            <a:r>
              <a:rPr sz="1400" b="0" i="0" dirty="0"/>
              <a:t>That is the whole flow.</a:t>
            </a:r>
          </a:p>
          <a:p>
            <a:r>
              <a:rPr sz="1400" b="0" i="0" dirty="0"/>
              <a:t>Now let's zoom in, step by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b="0" i="0" dirty="0"/>
              <a:t>The model reads the </a:t>
            </a:r>
            <a:r>
              <a:rPr sz="1400" b="1" i="0" dirty="0"/>
              <a:t>full text of every creation</a:t>
            </a:r>
            <a:r>
              <a:rPr sz="1400" b="0" i="0" dirty="0"/>
              <a:t> in the corpus.</a:t>
            </a:r>
          </a:p>
          <a:p>
            <a:r>
              <a:rPr sz="1400" b="0" i="0" dirty="0"/>
              <a:t>We assume most of it is already in the author's style.</a:t>
            </a:r>
          </a:p>
          <a:p>
            <a:r>
              <a:rPr sz="1400" b="0" i="0" dirty="0"/>
              <a:t>It writes one general style profile</a:t>
            </a:r>
            <a:r>
              <a:rPr lang="en-US" sz="1400" b="0" i="0" dirty="0"/>
              <a:t>.</a:t>
            </a:r>
          </a:p>
          <a:p>
            <a:r>
              <a:rPr lang="en-US" sz="1400" b="0" i="0" dirty="0"/>
              <a:t>Notice the direction here: the model reads a lot, but writes only a short description.</a:t>
            </a:r>
          </a:p>
          <a:p>
            <a:r>
              <a:rPr sz="1400" b="0" i="0" dirty="0"/>
              <a:t>Reading a lot is easy for a language model.</a:t>
            </a:r>
          </a:p>
          <a:p>
            <a:endParaRPr sz="1400" b="0" i="0" dirty="0"/>
          </a:p>
          <a:p>
            <a:r>
              <a:rPr sz="1400" b="0" i="0" dirty="0"/>
              <a:t>The key point: the prompt </a:t>
            </a:r>
            <a:r>
              <a:rPr sz="1400" b="1" i="0" dirty="0"/>
              <a:t>never names Shakespeare</a:t>
            </a:r>
            <a:r>
              <a:rPr sz="1400" b="0" i="0" dirty="0"/>
              <a:t> </a:t>
            </a:r>
            <a:r>
              <a:rPr lang="en-IL" sz="1400" b="0" i="0" dirty="0"/>
              <a:t>-</a:t>
            </a:r>
            <a:r>
              <a:rPr sz="1400" b="0" i="0" dirty="0"/>
              <a:t> or any author.</a:t>
            </a:r>
          </a:p>
          <a:p>
            <a:r>
              <a:rPr sz="1400" b="0" i="0" dirty="0"/>
              <a:t>So the profile carries no memorized bias, and the method stays general.</a:t>
            </a:r>
          </a:p>
          <a:p>
            <a:endParaRPr sz="1400" b="0" i="0" dirty="0"/>
          </a:p>
          <a:p>
            <a:r>
              <a:rPr sz="1400" b="0" i="0" dirty="0"/>
              <a:t>The fourth bullet is noise injection.</a:t>
            </a:r>
          </a:p>
          <a:p>
            <a:r>
              <a:rPr sz="1400" b="0" i="0" dirty="0"/>
              <a:t>Every run after the first adds one different foreign creation to the corpus.</a:t>
            </a:r>
          </a:p>
          <a:p>
            <a:r>
              <a:rPr sz="1400" b="0" i="0" dirty="0"/>
              <a:t>Run one has none, and it does not accumulate.</a:t>
            </a:r>
          </a:p>
          <a:p>
            <a:r>
              <a:rPr sz="1400" b="0" i="0" dirty="0"/>
              <a:t>So no single intruder can bias the profile.</a:t>
            </a:r>
          </a:p>
          <a:p>
            <a:r>
              <a:rPr sz="1400" b="0" i="0" dirty="0"/>
              <a:t>In Phase B we also test a version with no added noise </a:t>
            </a:r>
            <a:r>
              <a:rPr lang="en-IL" sz="1400" b="0" i="0" dirty="0"/>
              <a:t>-</a:t>
            </a:r>
            <a:r>
              <a:rPr sz="1400" b="0" i="0" dirty="0"/>
              <a:t> the model is not deterministic, so every run already varies a little.</a:t>
            </a:r>
          </a:p>
          <a:p>
            <a:r>
              <a:rPr sz="1400" b="0" i="0" dirty="0"/>
              <a:t>We will come back to this at the aggregation step.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b="0" i="0" dirty="0"/>
              <a:t>Step two: </a:t>
            </a:r>
            <a:r>
              <a:rPr sz="1400" b="1" i="0" dirty="0"/>
              <a:t>chunking</a:t>
            </a:r>
            <a:r>
              <a:rPr sz="1400" b="0" i="0" dirty="0"/>
              <a:t>.</a:t>
            </a:r>
          </a:p>
          <a:p>
            <a:r>
              <a:rPr sz="1400" b="0" i="0" dirty="0"/>
              <a:t>We split each creation into same-size chunks, one after the other </a:t>
            </a:r>
            <a:r>
              <a:rPr lang="en-IL" sz="1400" b="0" i="0" dirty="0"/>
              <a:t>-</a:t>
            </a:r>
            <a:r>
              <a:rPr sz="1400" b="0" i="0" dirty="0"/>
              <a:t> P is about four hundred words.</a:t>
            </a:r>
          </a:p>
          <a:p>
            <a:r>
              <a:rPr sz="1400" b="0" i="0" dirty="0"/>
              <a:t>Full coverage: every word, no sampling.</a:t>
            </a:r>
          </a:p>
          <a:p>
            <a:endParaRPr sz="1400" b="0" i="0" dirty="0"/>
          </a:p>
          <a:p>
            <a:r>
              <a:rPr sz="1400" b="0" i="0" dirty="0"/>
              <a:t>Why chunks, and not the whole creation at once?</a:t>
            </a:r>
          </a:p>
          <a:p>
            <a:r>
              <a:rPr sz="1400" b="0" i="0" dirty="0"/>
              <a:t>Two reasons.</a:t>
            </a:r>
          </a:p>
          <a:p>
            <a:r>
              <a:rPr sz="1400" b="0" i="0" dirty="0"/>
              <a:t>First, </a:t>
            </a:r>
            <a:r>
              <a:rPr sz="1400" b="1" i="0" dirty="0"/>
              <a:t>faithfulness</a:t>
            </a:r>
            <a:r>
              <a:rPr sz="1400" b="0" i="0" dirty="0"/>
              <a:t>.</a:t>
            </a:r>
          </a:p>
          <a:p>
            <a:r>
              <a:rPr sz="1400" b="0" i="0" dirty="0"/>
              <a:t>On short passages, the model rewrites accurately.</a:t>
            </a:r>
          </a:p>
          <a:p>
            <a:r>
              <a:rPr sz="1400" b="0" i="0" dirty="0"/>
              <a:t>On a long text, it starts to drift and paraphrase.</a:t>
            </a:r>
          </a:p>
          <a:p>
            <a:r>
              <a:rPr sz="1400" b="0" i="0" dirty="0"/>
              <a:t>Notice: it is the opposite of step one.</a:t>
            </a:r>
          </a:p>
          <a:p>
            <a:r>
              <a:rPr sz="1400" b="0" i="0" dirty="0"/>
              <a:t>Reading a lot is safe.</a:t>
            </a:r>
          </a:p>
          <a:p>
            <a:r>
              <a:rPr sz="1400" b="0" i="0" dirty="0"/>
              <a:t>Writing a lot, faithfully, is not.</a:t>
            </a:r>
          </a:p>
          <a:p>
            <a:r>
              <a:rPr sz="1400" b="0" i="0" dirty="0"/>
              <a:t>Short chunks keep the rewrite honest.</a:t>
            </a:r>
          </a:p>
          <a:p>
            <a:r>
              <a:rPr sz="1400" b="0" i="0" dirty="0"/>
              <a:t>Second, </a:t>
            </a:r>
            <a:r>
              <a:rPr sz="1400" b="1" i="0" dirty="0"/>
              <a:t>resolution</a:t>
            </a:r>
            <a:r>
              <a:rPr sz="1400" b="0" i="0" dirty="0"/>
              <a:t>.</a:t>
            </a:r>
          </a:p>
          <a:p>
            <a:r>
              <a:rPr sz="1400" b="0" i="0" dirty="0"/>
              <a:t>A score per chunk shows </a:t>
            </a:r>
            <a:r>
              <a:rPr sz="1400" b="0" i="1" dirty="0"/>
              <a:t>where</a:t>
            </a:r>
            <a:r>
              <a:rPr sz="1400" b="0" i="0" dirty="0"/>
              <a:t> in a creation a different hand appears.</a:t>
            </a:r>
          </a:p>
          <a:p>
            <a:endParaRPr sz="1400" b="0" i="0" dirty="0"/>
          </a:p>
          <a:p>
            <a:r>
              <a:rPr sz="1400" b="0" i="0" dirty="0"/>
              <a:t>Step three: </a:t>
            </a:r>
            <a:r>
              <a:rPr sz="1400" b="1" i="0" dirty="0"/>
              <a:t>rewriting</a:t>
            </a:r>
            <a:r>
              <a:rPr sz="1400" b="0" i="0" dirty="0"/>
              <a:t>.</a:t>
            </a:r>
          </a:p>
          <a:p>
            <a:r>
              <a:rPr sz="1400" b="0" i="0" dirty="0"/>
              <a:t>The model rewrites each chunk into the profile's style.</a:t>
            </a:r>
          </a:p>
          <a:p>
            <a:r>
              <a:rPr sz="1400" b="0" i="0" dirty="0"/>
              <a:t>The instruction is clear: keep the content, change only the style.</a:t>
            </a:r>
          </a:p>
          <a:p>
            <a:r>
              <a:rPr sz="1400" b="0" i="0" dirty="0"/>
              <a:t>How much it has to change </a:t>
            </a:r>
            <a:r>
              <a:rPr lang="en-IL" sz="1400" b="0" i="0" dirty="0"/>
              <a:t>-</a:t>
            </a:r>
            <a:r>
              <a:rPr sz="1400" b="0" i="0" dirty="0"/>
              <a:t> that is exactly what we measure next.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400" b="0" i="0" dirty="0"/>
              <a:t>This is the heart of the method </a:t>
            </a:r>
            <a:r>
              <a:rPr lang="en-IL" sz="1400" b="0" i="0" dirty="0"/>
              <a:t>-</a:t>
            </a:r>
            <a:r>
              <a:rPr sz="1400" b="0" i="0" dirty="0"/>
              <a:t> the distance.</a:t>
            </a:r>
          </a:p>
          <a:p>
            <a:r>
              <a:rPr sz="1400" b="0" i="0" dirty="0"/>
              <a:t>We call it delta </a:t>
            </a:r>
            <a:r>
              <a:rPr lang="en-IL" sz="1400" b="0" i="0" dirty="0"/>
              <a:t>-</a:t>
            </a:r>
            <a:r>
              <a:rPr sz="1400" b="0" i="0" dirty="0"/>
              <a:t> the </a:t>
            </a:r>
            <a:r>
              <a:rPr sz="1400" b="1" i="0" dirty="0"/>
              <a:t>Function-Word Edit Distance</a:t>
            </a:r>
            <a:r>
              <a:rPr sz="1400" b="0" i="0" dirty="0"/>
              <a:t>.</a:t>
            </a:r>
          </a:p>
          <a:p>
            <a:endParaRPr sz="1400" b="0" i="0" dirty="0"/>
          </a:p>
          <a:p>
            <a:r>
              <a:rPr sz="1400" b="0" i="0" dirty="0"/>
              <a:t>We take the sequence of function words </a:t>
            </a:r>
            <a:r>
              <a:rPr lang="en-IL" sz="1400" b="0" i="0" dirty="0"/>
              <a:t>-</a:t>
            </a:r>
            <a:r>
              <a:rPr sz="1400" b="0" i="0" dirty="0"/>
              <a:t> from the original, and from the rewrite.</a:t>
            </a:r>
          </a:p>
          <a:p>
            <a:r>
              <a:rPr sz="1400" b="0" i="0" dirty="0"/>
              <a:t>Then we count how many edits turn one sequence into the other </a:t>
            </a:r>
            <a:r>
              <a:rPr lang="en-IL" sz="1400" b="0" i="0" dirty="0"/>
              <a:t>-</a:t>
            </a:r>
            <a:r>
              <a:rPr sz="1400" b="0" i="0" dirty="0"/>
              <a:t> insert, delete, replace.</a:t>
            </a:r>
          </a:p>
          <a:p>
            <a:r>
              <a:rPr sz="1400" b="0" i="0" dirty="0"/>
              <a:t>So the </a:t>
            </a:r>
            <a:r>
              <a:rPr sz="1400" b="1" i="0" dirty="0"/>
              <a:t>order</a:t>
            </a:r>
            <a:r>
              <a:rPr sz="1400" b="0" i="0" dirty="0"/>
              <a:t> of the words matters, not just how many times each word appears.</a:t>
            </a:r>
          </a:p>
          <a:p>
            <a:r>
              <a:rPr sz="1400" b="0" i="0" dirty="0"/>
              <a:t>The list has about a hundred and twenty function words </a:t>
            </a:r>
            <a:r>
              <a:rPr lang="en-IL" sz="1400" b="0" i="0" dirty="0"/>
              <a:t>-</a:t>
            </a:r>
            <a:r>
              <a:rPr sz="1400" b="0" i="0" dirty="0"/>
              <a:t> modern ones like 'you' and 'has', and Early-Modern ones like 'thou' and 'hath'.</a:t>
            </a:r>
          </a:p>
          <a:p>
            <a:r>
              <a:rPr sz="1400" b="0" i="0" dirty="0"/>
              <a:t>So the metric is </a:t>
            </a:r>
            <a:r>
              <a:rPr sz="1400" b="1" i="0" dirty="0"/>
              <a:t>not</a:t>
            </a:r>
            <a:r>
              <a:rPr sz="1400" b="0" i="0" dirty="0"/>
              <a:t> biased toward Shakespeare.</a:t>
            </a:r>
          </a:p>
          <a:p>
            <a:endParaRPr sz="1400" b="0" i="0" dirty="0"/>
          </a:p>
          <a:p>
            <a:r>
              <a:rPr sz="1400" b="0" i="0" dirty="0"/>
              <a:t>Look at the example on the slide.</a:t>
            </a:r>
          </a:p>
          <a:p>
            <a:r>
              <a:rPr sz="1400" b="0" i="0" dirty="0"/>
              <a:t>The authentic chunk already fits the style: almost nothing changes, and delta is near zero.</a:t>
            </a:r>
          </a:p>
          <a:p>
            <a:r>
              <a:rPr sz="1400" b="0" i="0" dirty="0"/>
              <a:t>The foreign chunk needs a few swaps </a:t>
            </a:r>
            <a:r>
              <a:rPr lang="en-IL" sz="1400" b="0" i="0" dirty="0"/>
              <a:t>-</a:t>
            </a:r>
            <a:r>
              <a:rPr sz="1400" b="0" i="0" dirty="0"/>
              <a:t> 'you' to 'thou', 'does' to 'doth'.</a:t>
            </a:r>
          </a:p>
          <a:p>
            <a:r>
              <a:rPr sz="1400" b="0" i="0" dirty="0"/>
              <a:t>Two out of ten function words changed: delta is zero point two.</a:t>
            </a:r>
          </a:p>
          <a:p>
            <a:endParaRPr sz="1400" b="0" i="0" dirty="0"/>
          </a:p>
          <a:p>
            <a:r>
              <a:rPr sz="1400" b="0" i="0" dirty="0"/>
              <a:t>And remember: this metric is one example </a:t>
            </a:r>
            <a:r>
              <a:rPr lang="en-IL" sz="1400" b="0" i="0" dirty="0"/>
              <a:t>-</a:t>
            </a:r>
            <a:r>
              <a:rPr sz="1400" b="0" i="0" dirty="0"/>
              <a:t> in Phase B we compare several and choose one.</a:t>
            </a:r>
          </a:p>
          <a:p>
            <a:r>
              <a:rPr sz="1400" b="0" i="0" dirty="0"/>
              <a:t>That is the distance.</a:t>
            </a:r>
          </a:p>
          <a:p>
            <a:r>
              <a:rPr sz="1400" b="0" i="0" dirty="0"/>
              <a:t>From here, Miron will turn it into a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 each run, 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average the chunk DELTAS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we’ll have one score per creation. </a:t>
            </a:r>
            <a:b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we average 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across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independent runs, as said before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run 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extracts its own fresh profile.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averaging cancels the model's 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run-to-run randomness.</a:t>
            </a:r>
            <a:b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here the 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noise injection 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pays off.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L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B we’ll also test the version with no added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now have forty-nine scores.</a:t>
            </a:r>
          </a:p>
          <a:p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Otsu's method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finds the split point automatically - it is 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parameter-free, borrowed from image processing.</a:t>
            </a:r>
          </a:p>
          <a:p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will appear above the threshold is suspicious, and Below - authentic.</a:t>
            </a:r>
            <a:b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Otsu fits our case because the suspicious group is a second group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size.</a:t>
            </a:r>
            <a:endParaRPr lang="en-I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Theoretically we do this 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we average the runs; we are making one split and then stop - there won’t be 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feedback loop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he-I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could repeat with only the 'authentic' creations - that is called 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purification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It might 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sharpen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split, but a wrong early label could spread and get stronger. So, in case of unstable single split we will implement 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purification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Phase B.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Otsu is one option, the one we 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illustrate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b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Phase B we will compare others, like a 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Gaussian mixture.</a:t>
            </a:r>
            <a:endParaRPr lang="en-I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 know we succeeded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numerical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metrics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will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 checked 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Phase B.</a:t>
            </a:r>
          </a:p>
          <a:p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 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profile contribution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rewriting with our extracted profile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must lower delta more than a generic prompt.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he-I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1" dirty="0">
                <a:solidFill>
                  <a:srgbClr val="202060"/>
                </a:solidFill>
              </a:rPr>
              <a:t>agreement with scholarly consensus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our suspicious set 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must match the firmest scholarly cases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like Henry the Eighth with Fletcher, and Henry the Sixth with Marlowe - 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at least four of five.</a:t>
            </a:r>
            <a:endParaRPr lang="en-I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expected outputs are a 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sorted scatter plot of the 49 scores with a threshold line, a list of suspects with their continuous scores, and a confidence level for each work.</a:t>
            </a:r>
            <a:endParaRPr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lang="en-US" sz="1200" b="0" i="0" dirty="0"/>
              <a:t>Our validation plan includes three checks.</a:t>
            </a:r>
          </a:p>
          <a:p>
            <a:r>
              <a:rPr lang="en-US" sz="1200" b="0" i="0" dirty="0"/>
              <a:t>Each has an explicit pass condition</a:t>
            </a:r>
            <a:r>
              <a:rPr lang="he-IL" sz="1200" b="0" i="0" dirty="0"/>
              <a:t>.</a:t>
            </a:r>
            <a:endParaRPr lang="en-US" sz="1200" b="0" i="0" dirty="0"/>
          </a:p>
          <a:p>
            <a:endParaRPr lang="en-US" sz="1200" b="0" i="0" dirty="0"/>
          </a:p>
          <a:p>
            <a:r>
              <a:rPr lang="en-US" sz="1200" b="1" i="0" dirty="0"/>
              <a:t>Mixture Detection: </a:t>
            </a:r>
            <a:r>
              <a:rPr lang="en-US" sz="1200" b="0" i="0" dirty="0"/>
              <a:t>Constructing a text composed mostly of Author A with a small injection of Author B,</a:t>
            </a:r>
          </a:p>
          <a:p>
            <a:r>
              <a:rPr lang="en-US" sz="1200" b="0" i="0" dirty="0"/>
              <a:t>Passes if the method </a:t>
            </a:r>
            <a:r>
              <a:rPr lang="en-US" sz="1200" b="1" i="0" dirty="0"/>
              <a:t>distinguishes  between them</a:t>
            </a:r>
            <a:r>
              <a:rPr lang="en-US" sz="1200" b="0" i="0" dirty="0"/>
              <a:t>.</a:t>
            </a:r>
          </a:p>
          <a:p>
            <a:endParaRPr lang="en-US" sz="1200" b="0" i="0" dirty="0"/>
          </a:p>
          <a:p>
            <a:r>
              <a:rPr lang="en-US" sz="1200" b="1" i="0" dirty="0"/>
              <a:t>Stability</a:t>
            </a:r>
            <a:r>
              <a:rPr lang="en-US" sz="1200" b="0" i="0" dirty="0"/>
              <a:t>: one different foreign creation injected per run.</a:t>
            </a:r>
          </a:p>
          <a:p>
            <a:r>
              <a:rPr lang="en-US" sz="1200" b="0" i="0" dirty="0"/>
              <a:t>Passes if the </a:t>
            </a:r>
            <a:r>
              <a:rPr lang="en-US" sz="1200" b="1" i="0" dirty="0"/>
              <a:t>authentic labels do not move.</a:t>
            </a:r>
          </a:p>
          <a:p>
            <a:r>
              <a:rPr lang="en-US" sz="1200" b="1" i="0" dirty="0"/>
              <a:t>In Phase B we also run it with no added noise.</a:t>
            </a:r>
          </a:p>
          <a:p>
            <a:endParaRPr lang="en-US" sz="1200" b="0" i="0" dirty="0"/>
          </a:p>
          <a:p>
            <a:r>
              <a:rPr lang="en-US" sz="1200" b="1" i="0" dirty="0"/>
              <a:t>Calibration</a:t>
            </a:r>
            <a:r>
              <a:rPr lang="he-IL" sz="1200" b="0" i="0" dirty="0"/>
              <a:t>:</a:t>
            </a:r>
            <a:r>
              <a:rPr lang="en-US" sz="1200" b="0" i="0" dirty="0"/>
              <a:t> We rewrite the same chunks M times.</a:t>
            </a:r>
          </a:p>
          <a:p>
            <a:r>
              <a:rPr lang="en-US" sz="1200" b="1" i="0" dirty="0"/>
              <a:t>If delta varies too much, we raise M and repeat.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our Phase-B work plan,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it contains 3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stages.</a:t>
            </a:r>
          </a:p>
          <a:p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reproducibility and sensitivity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repeat runs on the same input, 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vary the chunk size P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check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labels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 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stay stable. </a:t>
            </a:r>
            <a:b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 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 run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forty-nine creations, single round, 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scatter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classification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3: 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optional refinement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dirty="0">
                <a:solidFill>
                  <a:srgbClr val="26262E"/>
                </a:solidFill>
                <a:latin typeface="Calibri"/>
              </a:rPr>
              <a:t>Re-extract the profile from </a:t>
            </a:r>
            <a:r>
              <a:rPr lang="en-US" sz="1200" b="1" i="0" dirty="0">
                <a:solidFill>
                  <a:srgbClr val="26262E"/>
                </a:solidFill>
                <a:latin typeface="Calibri"/>
              </a:rPr>
              <a:t>authentic-only creations and repeat.</a:t>
            </a:r>
          </a:p>
          <a:p>
            <a:endParaRPr lang="en-IL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use specific technical 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safeguards to mitigate our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main risks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IL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On phase B we’ll use</a:t>
            </a:r>
            <a:r>
              <a:rPr lang="en-IL" dirty="0"/>
              <a:t> a </a:t>
            </a:r>
            <a:r>
              <a:rPr lang="en-IL" b="1" dirty="0"/>
              <a:t>long-context language model for extraction and rewriting</a:t>
            </a:r>
            <a:r>
              <a:rPr lang="en-IL" dirty="0"/>
              <a:t>, selecting the </a:t>
            </a:r>
            <a:r>
              <a:rPr lang="en-IL" b="1" dirty="0"/>
              <a:t>best candidate based on performance stability</a:t>
            </a:r>
            <a:r>
              <a:rPr lang="en-IL" dirty="0"/>
              <a:t>. Our supporting toolchain </a:t>
            </a:r>
            <a:r>
              <a:rPr lang="en-US" b="1" dirty="0"/>
              <a:t>will rely</a:t>
            </a:r>
            <a:r>
              <a:rPr lang="en-IL" b="1" dirty="0"/>
              <a:t> on standard Python data science libraries</a:t>
            </a:r>
            <a:r>
              <a:rPr lang="en-US" b="1" dirty="0"/>
              <a:t>.</a:t>
            </a:r>
            <a:endParaRPr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summarize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have a 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fully specified method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metric, the algorithm, the evaluation, and the risks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defined.</a:t>
            </a:r>
          </a:p>
          <a:p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 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unsupervised, interpretable, and transferable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needs no comparison corpus and no training, and its output reads directly in stylistic terms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extra </a:t>
            </a:r>
            <a:r>
              <a:rPr lang="en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cross-check to existing methods.</a:t>
            </a:r>
          </a:p>
          <a:p>
            <a:r>
              <a:rPr lang="en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Phase B we’ll implement and validate the method end-to-end, and we’ll compare the family of distance metrics, and report which one separates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b="1" dirty="0"/>
              <a:t>Thank you for your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4" name="Picture 3" descr="braud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247" y="548640"/>
            <a:ext cx="2743200" cy="6475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417320"/>
            <a:ext cx="10362895" cy="4873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 dirty="0">
                <a:solidFill>
                  <a:srgbClr val="5A5A6E"/>
                </a:solidFill>
                <a:latin typeface="Calibri"/>
              </a:rPr>
              <a:t>Braude College of Engineering  ·  Software Engineering Department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 dirty="0">
                <a:solidFill>
                  <a:srgbClr val="2E5AAC"/>
                </a:solidFill>
                <a:latin typeface="Calibri"/>
              </a:rPr>
              <a:t>Capstone Project </a:t>
            </a:r>
            <a:r>
              <a:rPr lang="en-US" sz="1500" b="1" i="0" dirty="0">
                <a:solidFill>
                  <a:srgbClr val="2E5AAC"/>
                </a:solidFill>
                <a:latin typeface="Calibri"/>
              </a:rPr>
              <a:t>-</a:t>
            </a:r>
            <a:r>
              <a:rPr sz="1500" b="1" i="0" dirty="0">
                <a:solidFill>
                  <a:srgbClr val="2E5AAC"/>
                </a:solidFill>
                <a:latin typeface="Calibri"/>
              </a:rPr>
              <a:t> Phase A  (61998)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1447" y="2157984"/>
            <a:ext cx="1828800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0" b="1" i="0" dirty="0">
                <a:solidFill>
                  <a:srgbClr val="202060"/>
                </a:solidFill>
                <a:latin typeface="Calibri"/>
              </a:rPr>
              <a:t>Multi-Modal LLM Style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98142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1" dirty="0">
                <a:solidFill>
                  <a:srgbClr val="5A5A6E"/>
                </a:solidFill>
                <a:latin typeface="Calibri"/>
              </a:rPr>
              <a:t>Detecting Misattributed Creations in the Shakespeare Corpus through LLM-Based Style Normalization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4160520"/>
            <a:ext cx="7802575" cy="2057400"/>
          </a:xfrm>
          <a:prstGeom prst="roundRect">
            <a:avLst>
              <a:gd name="adj" fmla="val 4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0" y="4206240"/>
            <a:ext cx="7071055" cy="1965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 dirty="0">
                <a:solidFill>
                  <a:srgbClr val="202060"/>
                </a:solidFill>
                <a:latin typeface="Calibri"/>
              </a:rPr>
              <a:t>Project Code:  </a:t>
            </a:r>
            <a:r>
              <a:rPr sz="1400" dirty="0">
                <a:solidFill>
                  <a:srgbClr val="26262E"/>
                </a:solidFill>
                <a:latin typeface="Calibri"/>
              </a:rPr>
              <a:t>26-2-R-6</a:t>
            </a:r>
          </a:p>
          <a:p>
            <a:pPr algn="ctr">
              <a:spcAft>
                <a:spcPts val="700"/>
              </a:spcAft>
            </a:pPr>
            <a:r>
              <a:rPr sz="2100" b="1" dirty="0">
                <a:solidFill>
                  <a:srgbClr val="202060"/>
                </a:solidFill>
                <a:latin typeface="Calibri"/>
              </a:rPr>
              <a:t>Students:  </a:t>
            </a:r>
            <a:r>
              <a:rPr sz="2100" b="1" dirty="0">
                <a:solidFill>
                  <a:srgbClr val="26262E"/>
                </a:solidFill>
                <a:latin typeface="Calibri"/>
              </a:rPr>
              <a:t>Eliran Melihov   ·   Miron </a:t>
            </a:r>
            <a:r>
              <a:rPr sz="2100" b="1" dirty="0" err="1">
                <a:solidFill>
                  <a:srgbClr val="26262E"/>
                </a:solidFill>
                <a:latin typeface="Calibri"/>
              </a:rPr>
              <a:t>Hanukaiev</a:t>
            </a:r>
            <a:endParaRPr dirty="0">
              <a:solidFill>
                <a:srgbClr val="26262E"/>
              </a:solidFill>
              <a:latin typeface="Calibri"/>
            </a:endParaRPr>
          </a:p>
          <a:p>
            <a:pPr algn="ctr">
              <a:spcAft>
                <a:spcPts val="700"/>
              </a:spcAft>
            </a:pPr>
            <a:r>
              <a:rPr sz="1400" b="1" dirty="0">
                <a:solidFill>
                  <a:srgbClr val="202060"/>
                </a:solidFill>
                <a:latin typeface="Calibri"/>
              </a:rPr>
              <a:t>Advisors:  </a:t>
            </a:r>
            <a:r>
              <a:rPr sz="1400" dirty="0">
                <a:solidFill>
                  <a:srgbClr val="26262E"/>
                </a:solidFill>
                <a:latin typeface="Calibri"/>
              </a:rPr>
              <a:t>Dr. Renata </a:t>
            </a:r>
            <a:r>
              <a:rPr sz="1400" dirty="0" err="1">
                <a:solidFill>
                  <a:srgbClr val="26262E"/>
                </a:solidFill>
                <a:latin typeface="Calibri"/>
              </a:rPr>
              <a:t>Avros</a:t>
            </a:r>
            <a:r>
              <a:rPr sz="1400" dirty="0">
                <a:solidFill>
                  <a:srgbClr val="26262E"/>
                </a:solidFill>
                <a:latin typeface="Calibri"/>
              </a:rPr>
              <a:t>   ·   Prof. Zeev </a:t>
            </a:r>
            <a:r>
              <a:rPr sz="1400" dirty="0" err="1">
                <a:solidFill>
                  <a:srgbClr val="26262E"/>
                </a:solidFill>
                <a:latin typeface="Calibri"/>
              </a:rPr>
              <a:t>Volkovich</a:t>
            </a:r>
            <a:endParaRPr sz="1500" dirty="0">
              <a:solidFill>
                <a:srgbClr val="26262E"/>
              </a:solidFill>
              <a:latin typeface="Calibri"/>
            </a:endParaRPr>
          </a:p>
          <a:p>
            <a:pPr algn="ctr">
              <a:spcAft>
                <a:spcPts val="700"/>
              </a:spcAft>
            </a:pPr>
            <a:r>
              <a:rPr sz="1300" b="1" dirty="0">
                <a:solidFill>
                  <a:srgbClr val="202060"/>
                </a:solidFill>
                <a:latin typeface="Calibri"/>
              </a:rPr>
              <a:t>GitHub:  </a:t>
            </a:r>
            <a:r>
              <a:rPr sz="1300" dirty="0">
                <a:solidFill>
                  <a:srgbClr val="26262E"/>
                </a:solidFill>
                <a:latin typeface="Calibri"/>
              </a:rPr>
              <a:t>github.com/</a:t>
            </a:r>
            <a:r>
              <a:rPr sz="1300" dirty="0" err="1">
                <a:solidFill>
                  <a:srgbClr val="26262E"/>
                </a:solidFill>
                <a:latin typeface="Calibri"/>
              </a:rPr>
              <a:t>eliranmeleh</a:t>
            </a:r>
            <a:r>
              <a:rPr sz="1300" dirty="0">
                <a:solidFill>
                  <a:srgbClr val="26262E"/>
                </a:solidFill>
                <a:latin typeface="Calibri"/>
              </a:rPr>
              <a:t>/Multi-Modal-LLM-Style-Analysis</a:t>
            </a:r>
            <a:endParaRPr lang="en-IL" sz="1500" dirty="0">
              <a:solidFill>
                <a:srgbClr val="26262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85832" y="6583680"/>
            <a:ext cx="18288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5AAC"/>
                </a:solidFill>
                <a:latin typeface="Calibri"/>
              </a:rPr>
              <a:t>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02060"/>
                </a:solidFill>
                <a:latin typeface="Calibri"/>
              </a:rPr>
              <a:t>The problem &amp; the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173736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1" dirty="0">
                <a:solidFill>
                  <a:srgbClr val="0E7C86"/>
                </a:solidFill>
                <a:latin typeface="Calibri"/>
              </a:rPr>
              <a:t>▪  </a:t>
            </a:r>
            <a:r>
              <a:rPr sz="1700" b="1" dirty="0">
                <a:solidFill>
                  <a:srgbClr val="202060"/>
                </a:solidFill>
                <a:latin typeface="Calibri"/>
              </a:rPr>
              <a:t>The question.  </a:t>
            </a:r>
            <a:r>
              <a:rPr sz="1700" b="0" dirty="0">
                <a:solidFill>
                  <a:srgbClr val="26262E"/>
                </a:solidFill>
                <a:latin typeface="Calibri"/>
              </a:rPr>
              <a:t>Which of the 49 creations attributed to Shakespeare are genuinely his, and which bear another hand? An ideal computational tool for this question would have three properties: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3429000" cy="1920240"/>
          </a:xfrm>
          <a:prstGeom prst="roundRect">
            <a:avLst>
              <a:gd name="adj" fmla="val 5000"/>
            </a:avLst>
          </a:prstGeom>
          <a:solidFill>
            <a:srgbClr val="EEF1F8"/>
          </a:solidFill>
          <a:ln w="12700">
            <a:solidFill>
              <a:srgbClr val="D3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3429000" cy="109728"/>
          </a:xfrm>
          <a:prstGeom prst="roundRect">
            <a:avLst>
              <a:gd name="adj" fmla="val 50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3081528"/>
            <a:ext cx="2916936" cy="1033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 dirty="0">
                <a:solidFill>
                  <a:srgbClr val="202060"/>
                </a:solidFill>
                <a:latin typeface="Calibri"/>
              </a:rPr>
              <a:t>Judges a text on its own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 dirty="0">
                <a:solidFill>
                  <a:srgbClr val="26262E"/>
                </a:solidFill>
                <a:latin typeface="Calibri"/>
              </a:rPr>
              <a:t>No external pool of comparison authors to gather </a:t>
            </a:r>
            <a:r>
              <a:rPr lang="en-US" sz="1450" b="0" i="0" dirty="0">
                <a:solidFill>
                  <a:srgbClr val="26262E"/>
                </a:solidFill>
                <a:latin typeface="Calibri"/>
              </a:rPr>
              <a:t>-</a:t>
            </a:r>
            <a:r>
              <a:rPr sz="1450" b="0" i="0" dirty="0">
                <a:solidFill>
                  <a:srgbClr val="26262E"/>
                </a:solidFill>
                <a:latin typeface="Calibri"/>
              </a:rPr>
              <a:t> and nothing to rebuild for each new author.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2788920"/>
            <a:ext cx="3429000" cy="1920240"/>
          </a:xfrm>
          <a:prstGeom prst="roundRect">
            <a:avLst>
              <a:gd name="adj" fmla="val 5000"/>
            </a:avLst>
          </a:prstGeom>
          <a:solidFill>
            <a:srgbClr val="EEF1F8"/>
          </a:solidFill>
          <a:ln w="12700">
            <a:solidFill>
              <a:srgbClr val="D3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53128" y="2788920"/>
            <a:ext cx="3429000" cy="109728"/>
          </a:xfrm>
          <a:prstGeom prst="roundRect">
            <a:avLst>
              <a:gd name="adj" fmla="val 50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3081528"/>
            <a:ext cx="2916936" cy="8104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 dirty="0">
                <a:solidFill>
                  <a:srgbClr val="202060"/>
                </a:solidFill>
                <a:latin typeface="Calibri"/>
              </a:rPr>
              <a:t>Needs no training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 dirty="0">
                <a:solidFill>
                  <a:srgbClr val="26262E"/>
                </a:solidFill>
                <a:latin typeface="Calibri"/>
              </a:rPr>
              <a:t>Works out of the box </a:t>
            </a:r>
            <a:r>
              <a:rPr lang="en-US" sz="1450" b="0" i="0" dirty="0">
                <a:solidFill>
                  <a:srgbClr val="26262E"/>
                </a:solidFill>
                <a:latin typeface="Calibri"/>
              </a:rPr>
              <a:t>-</a:t>
            </a:r>
            <a:r>
              <a:rPr sz="1450" b="0" i="0" dirty="0">
                <a:solidFill>
                  <a:srgbClr val="26262E"/>
                </a:solidFill>
                <a:latin typeface="Calibri"/>
              </a:rPr>
              <a:t> no labeled examples and no models to train.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4736" y="2788920"/>
            <a:ext cx="3429000" cy="1920240"/>
          </a:xfrm>
          <a:prstGeom prst="roundRect">
            <a:avLst>
              <a:gd name="adj" fmla="val 5000"/>
            </a:avLst>
          </a:prstGeom>
          <a:solidFill>
            <a:srgbClr val="EEF1F8"/>
          </a:solidFill>
          <a:ln w="12700">
            <a:solidFill>
              <a:srgbClr val="D3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74736" y="2788920"/>
            <a:ext cx="3429000" cy="109728"/>
          </a:xfrm>
          <a:prstGeom prst="roundRect">
            <a:avLst>
              <a:gd name="adj" fmla="val 50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0768" y="3081528"/>
            <a:ext cx="2916936" cy="8104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 dirty="0">
                <a:solidFill>
                  <a:srgbClr val="202060"/>
                </a:solidFill>
                <a:latin typeface="Calibri"/>
              </a:rPr>
              <a:t>Explains itself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 dirty="0">
                <a:solidFill>
                  <a:srgbClr val="26262E"/>
                </a:solidFill>
                <a:latin typeface="Calibri"/>
              </a:rPr>
              <a:t>A result a literary scholar can read in plain stylistic terms </a:t>
            </a:r>
            <a:r>
              <a:rPr lang="en-US" sz="1450" b="0" i="0" dirty="0">
                <a:solidFill>
                  <a:srgbClr val="26262E"/>
                </a:solidFill>
                <a:latin typeface="Calibri"/>
              </a:rPr>
              <a:t>-</a:t>
            </a:r>
            <a:r>
              <a:rPr sz="1450" b="0" i="0" dirty="0">
                <a:solidFill>
                  <a:srgbClr val="26262E"/>
                </a:solidFill>
                <a:latin typeface="Calibri"/>
              </a:rPr>
              <a:t> not just a score.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10698480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 dirty="0">
                <a:solidFill>
                  <a:srgbClr val="202060"/>
                </a:solidFill>
                <a:latin typeface="Calibri"/>
              </a:rPr>
              <a:t>The gap:  existing computational methods rarely offer all three at once </a:t>
            </a:r>
            <a:r>
              <a:rPr lang="en-US" sz="1700" b="1" i="0" dirty="0">
                <a:solidFill>
                  <a:srgbClr val="202060"/>
                </a:solidFill>
                <a:latin typeface="Calibri"/>
              </a:rPr>
              <a:t>-</a:t>
            </a:r>
            <a:r>
              <a:rPr sz="1700" b="1" i="0" dirty="0">
                <a:solidFill>
                  <a:srgbClr val="202060"/>
                </a:solidFill>
                <a:latin typeface="Calibri"/>
              </a:rPr>
              <a:t> so this project sets out to build one that does: unsupervised, interpretable, and transferable, complementing existing approaches.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3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64190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6E"/>
                </a:solidFill>
                <a:latin typeface="Calibri"/>
              </a:rPr>
              <a:t>26-2-R-6  ·  Multi-Modal LLM Style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8575" y="641908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02060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5AAC"/>
                </a:solidFill>
                <a:latin typeface="Calibri"/>
              </a:rPr>
              <a:t>WHAT THE PROJECT SETS OUT TO ACHIEVE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02060"/>
                </a:solidFill>
                <a:latin typeface="Calibri"/>
              </a:rPr>
              <a:t>Project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173736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9546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0E7C86"/>
                </a:solidFill>
                <a:latin typeface="Calibri"/>
              </a:rPr>
              <a:t>▪  </a:t>
            </a:r>
            <a:r>
              <a:rPr sz="1800" b="1" dirty="0">
                <a:solidFill>
                  <a:srgbClr val="202060"/>
                </a:solidFill>
                <a:latin typeface="Calibri"/>
              </a:rPr>
              <a:t>Unsupervised &amp; zero-shot.  </a:t>
            </a:r>
            <a:r>
              <a:rPr sz="1800" b="0" dirty="0">
                <a:solidFill>
                  <a:srgbClr val="26262E"/>
                </a:solidFill>
                <a:latin typeface="Calibri"/>
              </a:rPr>
              <a:t>Design and implement an authorship-anomaly pipeline driven by LLM-based style normalization </a:t>
            </a:r>
            <a:r>
              <a:rPr lang="en-US" sz="1800" b="0" dirty="0">
                <a:solidFill>
                  <a:srgbClr val="26262E"/>
                </a:solidFill>
                <a:latin typeface="Calibri"/>
              </a:rPr>
              <a:t>-</a:t>
            </a:r>
            <a:r>
              <a:rPr sz="1800" b="0" dirty="0">
                <a:solidFill>
                  <a:srgbClr val="26262E"/>
                </a:solidFill>
                <a:latin typeface="Calibri"/>
              </a:rPr>
              <a:t> no labels, no training.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0E7C86"/>
                </a:solidFill>
                <a:latin typeface="Calibri"/>
              </a:rPr>
              <a:t>▪  </a:t>
            </a:r>
            <a:r>
              <a:rPr sz="1800" b="1" dirty="0">
                <a:solidFill>
                  <a:srgbClr val="202060"/>
                </a:solidFill>
                <a:latin typeface="Calibri"/>
              </a:rPr>
              <a:t>Interpretable.  </a:t>
            </a:r>
            <a:r>
              <a:rPr sz="1800" b="0" dirty="0">
                <a:solidFill>
                  <a:srgbClr val="26262E"/>
                </a:solidFill>
                <a:latin typeface="Calibri"/>
              </a:rPr>
              <a:t>Produce results a literary scholar can read directly </a:t>
            </a:r>
            <a:r>
              <a:rPr lang="en-US" sz="1800" b="0" dirty="0">
                <a:solidFill>
                  <a:srgbClr val="26262E"/>
                </a:solidFill>
                <a:latin typeface="Calibri"/>
              </a:rPr>
              <a:t>-</a:t>
            </a:r>
            <a:r>
              <a:rPr sz="1800" b="0" dirty="0">
                <a:solidFill>
                  <a:srgbClr val="26262E"/>
                </a:solidFill>
                <a:latin typeface="Calibri"/>
              </a:rPr>
              <a:t> a per-creation score in plain stylistic terms, not an opaque number.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0E7C86"/>
                </a:solidFill>
                <a:latin typeface="Calibri"/>
              </a:rPr>
              <a:t>▪  </a:t>
            </a:r>
            <a:r>
              <a:rPr sz="1800" b="1" dirty="0">
                <a:solidFill>
                  <a:srgbClr val="202060"/>
                </a:solidFill>
                <a:latin typeface="Calibri"/>
              </a:rPr>
              <a:t>Methodological cross-check.  </a:t>
            </a:r>
            <a:r>
              <a:rPr sz="1800" b="0" dirty="0">
                <a:solidFill>
                  <a:srgbClr val="26262E"/>
                </a:solidFill>
                <a:latin typeface="Calibri"/>
              </a:rPr>
              <a:t>Benchmark against existing stylometry findings on the corpus as a complementary view of the same question.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0E7C86"/>
                </a:solidFill>
                <a:latin typeface="Calibri"/>
              </a:rPr>
              <a:t>▪  </a:t>
            </a:r>
            <a:r>
              <a:rPr sz="1800" b="1" dirty="0">
                <a:solidFill>
                  <a:srgbClr val="202060"/>
                </a:solidFill>
                <a:latin typeface="Calibri"/>
              </a:rPr>
              <a:t>Generalizable.  </a:t>
            </a:r>
            <a:r>
              <a:rPr sz="1800" b="0" dirty="0">
                <a:solidFill>
                  <a:srgbClr val="26262E"/>
                </a:solidFill>
                <a:latin typeface="Calibri"/>
              </a:rPr>
              <a:t>The same pipeline applies to any author's corpus by substitution </a:t>
            </a:r>
            <a:r>
              <a:rPr lang="en-US" sz="1800" b="0" dirty="0">
                <a:solidFill>
                  <a:srgbClr val="26262E"/>
                </a:solidFill>
                <a:latin typeface="Calibri"/>
              </a:rPr>
              <a:t>-</a:t>
            </a:r>
            <a:r>
              <a:rPr sz="1800" b="0" dirty="0">
                <a:solidFill>
                  <a:srgbClr val="26262E"/>
                </a:solidFill>
                <a:latin typeface="Calibri"/>
              </a:rPr>
              <a:t> Shakespeare is only an example, with no “Shakespeare” hard-coded anywhere.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0E7C86"/>
                </a:solidFill>
                <a:latin typeface="Calibri"/>
              </a:rPr>
              <a:t>▪  </a:t>
            </a:r>
            <a:r>
              <a:rPr sz="1800" b="1" dirty="0">
                <a:solidFill>
                  <a:srgbClr val="202060"/>
                </a:solidFill>
                <a:latin typeface="Calibri"/>
              </a:rPr>
              <a:t>Open &amp; reproducible.  </a:t>
            </a:r>
            <a:r>
              <a:rPr sz="1800" b="0" dirty="0">
                <a:solidFill>
                  <a:srgbClr val="26262E"/>
                </a:solidFill>
                <a:latin typeface="Calibri"/>
              </a:rPr>
              <a:t>Deliver an open-source implementation other researchers can reuse and extend.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3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6E"/>
                </a:solidFill>
                <a:latin typeface="Calibri"/>
              </a:rPr>
              <a:t>26-2-R-6  ·  Multi-Modal LLM Style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41908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02060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0972800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dirty="0">
                <a:solidFill>
                  <a:srgbClr val="2E5AAC"/>
                </a:solidFill>
                <a:latin typeface="Calibri"/>
              </a:rPr>
              <a:t>PROPOSED SOLUTION </a:t>
            </a:r>
            <a:r>
              <a:rPr lang="en-IL" sz="1250" b="1" i="0" dirty="0">
                <a:solidFill>
                  <a:srgbClr val="2E5AAC"/>
                </a:solidFill>
                <a:latin typeface="Calibri"/>
              </a:rPr>
              <a:t>-</a:t>
            </a:r>
            <a:r>
              <a:rPr sz="1250" b="1" i="0" dirty="0">
                <a:solidFill>
                  <a:srgbClr val="2E5AAC"/>
                </a:solidFill>
                <a:latin typeface="Calibri"/>
              </a:rPr>
              <a:t> METHOD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4462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 dirty="0">
                <a:solidFill>
                  <a:srgbClr val="202060"/>
                </a:solidFill>
                <a:latin typeface="Calibri"/>
              </a:rPr>
              <a:t>Methodology </a:t>
            </a:r>
            <a:r>
              <a:rPr lang="en-US" sz="2900" b="1" i="0" dirty="0">
                <a:solidFill>
                  <a:srgbClr val="202060"/>
                </a:solidFill>
                <a:latin typeface="Calibri"/>
              </a:rPr>
              <a:t>-</a:t>
            </a:r>
            <a:r>
              <a:rPr sz="2900" b="1" i="0" dirty="0">
                <a:solidFill>
                  <a:srgbClr val="202060"/>
                </a:solidFill>
                <a:latin typeface="Calibri"/>
              </a:rPr>
              <a:t> pipeline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173736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3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6E"/>
                </a:solidFill>
                <a:latin typeface="Calibri"/>
              </a:rPr>
              <a:t>26-2-R-6  ·  Multi-Modal LLM Style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8575" y="641908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02060"/>
                </a:solidFill>
                <a:latin typeface="Calibri"/>
              </a:rPr>
              <a:t>4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442073"/>
            <a:ext cx="1097280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i="1" dirty="0">
                <a:solidFill>
                  <a:srgbClr val="26262E"/>
                </a:solidFill>
                <a:latin typeface="Calibri"/>
              </a:rPr>
              <a:t>The core idea </a:t>
            </a:r>
            <a:r>
              <a:rPr lang="en-US" sz="1500" i="1" dirty="0">
                <a:solidFill>
                  <a:srgbClr val="26262E"/>
                </a:solidFill>
                <a:latin typeface="Calibri"/>
              </a:rPr>
              <a:t>-</a:t>
            </a:r>
            <a:r>
              <a:rPr sz="1500" i="1" dirty="0">
                <a:solidFill>
                  <a:srgbClr val="26262E"/>
                </a:solidFill>
                <a:latin typeface="Calibri"/>
              </a:rPr>
              <a:t> rewrite each passage into the corpus’s own style</a:t>
            </a:r>
            <a:r>
              <a:rPr lang="en-US" sz="1500" i="1" dirty="0">
                <a:solidFill>
                  <a:srgbClr val="26262E"/>
                </a:solidFill>
                <a:latin typeface="Calibri"/>
              </a:rPr>
              <a:t> -</a:t>
            </a:r>
            <a:r>
              <a:rPr sz="1500" i="1" dirty="0">
                <a:solidFill>
                  <a:srgbClr val="26262E"/>
                </a:solidFill>
                <a:latin typeface="Calibri"/>
              </a:rPr>
              <a:t> how much it must change is the distance the method measures (small change → authentic, large → another hand).</a:t>
            </a:r>
          </a:p>
        </p:txBody>
      </p:sp>
      <p:pic>
        <p:nvPicPr>
          <p:cNvPr id="12" name="Picture 11" descr="pipeline_v7_landsc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487" y="2029968"/>
            <a:ext cx="10332720" cy="42642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0972800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dirty="0">
                <a:solidFill>
                  <a:srgbClr val="2E5AAC"/>
                </a:solidFill>
                <a:latin typeface="Calibri"/>
              </a:rPr>
              <a:t>METHOD </a:t>
            </a:r>
            <a:r>
              <a:rPr lang="en-US" sz="1250" b="1" i="0" dirty="0">
                <a:solidFill>
                  <a:srgbClr val="2E5AAC"/>
                </a:solidFill>
                <a:latin typeface="Calibri"/>
              </a:rPr>
              <a:t>-</a:t>
            </a:r>
            <a:r>
              <a:rPr sz="1250" b="1" i="0" dirty="0">
                <a:solidFill>
                  <a:srgbClr val="2E5AAC"/>
                </a:solidFill>
                <a:latin typeface="Calibri"/>
              </a:rPr>
              <a:t> STEP 1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4462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 dirty="0">
                <a:solidFill>
                  <a:srgbClr val="202060"/>
                </a:solidFill>
                <a:latin typeface="Calibri"/>
              </a:rPr>
              <a:t>Step 1 </a:t>
            </a:r>
            <a:r>
              <a:rPr lang="en-US" sz="2900" b="1" i="0" dirty="0">
                <a:solidFill>
                  <a:srgbClr val="202060"/>
                </a:solidFill>
                <a:latin typeface="Calibri"/>
              </a:rPr>
              <a:t>-</a:t>
            </a:r>
            <a:r>
              <a:rPr sz="2900" b="1" i="0" dirty="0">
                <a:solidFill>
                  <a:srgbClr val="202060"/>
                </a:solidFill>
                <a:latin typeface="Calibri"/>
              </a:rPr>
              <a:t> Style-Profile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173736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5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 dirty="0">
                <a:solidFill>
                  <a:srgbClr val="1A3A6E"/>
                </a:solidFill>
              </a:rPr>
              <a:t>▪  Input.  </a:t>
            </a:r>
            <a:r>
              <a:rPr sz="1600" b="0" dirty="0">
                <a:solidFill>
                  <a:srgbClr val="1A1A2E"/>
                </a:solidFill>
              </a:rPr>
              <a:t>The full text of every creation in the corpus (most are assumed to be already in the author's style) </a:t>
            </a:r>
            <a:r>
              <a:rPr lang="en-US" sz="1600" b="0" dirty="0">
                <a:solidFill>
                  <a:srgbClr val="1A1A2E"/>
                </a:solidFill>
              </a:rPr>
              <a:t>-</a:t>
            </a:r>
            <a:r>
              <a:rPr sz="1600" b="0" dirty="0">
                <a:solidFill>
                  <a:srgbClr val="1A1A2E"/>
                </a:solidFill>
              </a:rPr>
              <a:t> whole creations, not samples.</a:t>
            </a:r>
          </a:p>
          <a:p>
            <a:pPr>
              <a:spcAft>
                <a:spcPts val="1400"/>
              </a:spcAft>
            </a:pPr>
            <a:r>
              <a:rPr sz="1600" b="1" dirty="0">
                <a:solidFill>
                  <a:srgbClr val="1A3A6E"/>
                </a:solidFill>
              </a:rPr>
              <a:t>▪  What the LLM does.  </a:t>
            </a:r>
            <a:r>
              <a:rPr sz="1600" b="0" dirty="0">
                <a:solidFill>
                  <a:srgbClr val="1A1A2E"/>
                </a:solidFill>
              </a:rPr>
              <a:t>Produces a generic style profile </a:t>
            </a:r>
            <a:r>
              <a:rPr lang="en-US" sz="1600" b="0" dirty="0">
                <a:solidFill>
                  <a:srgbClr val="1A1A2E"/>
                </a:solidFill>
              </a:rPr>
              <a:t>-</a:t>
            </a:r>
            <a:r>
              <a:rPr sz="1600" b="0" dirty="0">
                <a:solidFill>
                  <a:srgbClr val="1A1A2E"/>
                </a:solidFill>
              </a:rPr>
              <a:t> vocabulary, pronoun and verb forms, sentence rhythm, punctuation.</a:t>
            </a:r>
          </a:p>
          <a:p>
            <a:pPr>
              <a:spcAft>
                <a:spcPts val="1400"/>
              </a:spcAft>
            </a:pPr>
            <a:r>
              <a:rPr sz="1600" b="1" dirty="0">
                <a:solidFill>
                  <a:srgbClr val="1A3A6E"/>
                </a:solidFill>
              </a:rPr>
              <a:t>▪  Neutral prompt.  </a:t>
            </a:r>
            <a:r>
              <a:rPr sz="1600" b="0" dirty="0">
                <a:solidFill>
                  <a:srgbClr val="1A1A2E"/>
                </a:solidFill>
              </a:rPr>
              <a:t>No mention of “Shakespeare” or any author, so the profile carries no memorized-author bias.</a:t>
            </a:r>
          </a:p>
          <a:p>
            <a:pPr>
              <a:spcAft>
                <a:spcPts val="1400"/>
              </a:spcAft>
            </a:pPr>
            <a:r>
              <a:rPr sz="1600" b="1" dirty="0">
                <a:solidFill>
                  <a:srgbClr val="1A3A6E"/>
                </a:solidFill>
              </a:rPr>
              <a:t>▪  Noise injection (main proposal).  </a:t>
            </a:r>
            <a:r>
              <a:rPr sz="1600" b="0" dirty="0">
                <a:solidFill>
                  <a:srgbClr val="1A1A2E"/>
                </a:solidFill>
              </a:rPr>
              <a:t>Each profiling run after the first adds one different foreign creation as “noise” to the corpus before extraction (run 1: none; non-cumulative), so no single intruder can bias the profile; Phase B also tests with no added noise.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3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6E"/>
                </a:solidFill>
                <a:latin typeface="Calibri"/>
              </a:rPr>
              <a:t>26-2-R-6  ·  Multi-Modal LLM Style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41908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02060"/>
                </a:solidFill>
                <a:latin typeface="Calibri"/>
              </a:rPr>
              <a:t>5 / 15</a:t>
            </a:r>
          </a:p>
        </p:txBody>
      </p:sp>
      <p:pic>
        <p:nvPicPr>
          <p:cNvPr id="9" name="Picture 8" descr="step_fig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368" y="3703320"/>
            <a:ext cx="859536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0972800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dirty="0">
                <a:solidFill>
                  <a:srgbClr val="2E5AAC"/>
                </a:solidFill>
                <a:latin typeface="Calibri"/>
              </a:rPr>
              <a:t>METHOD </a:t>
            </a:r>
            <a:r>
              <a:rPr lang="en-US" sz="1250" b="1" i="0" dirty="0">
                <a:solidFill>
                  <a:srgbClr val="2E5AAC"/>
                </a:solidFill>
                <a:latin typeface="Calibri"/>
              </a:rPr>
              <a:t>-</a:t>
            </a:r>
            <a:r>
              <a:rPr sz="1250" b="1" i="0" dirty="0">
                <a:solidFill>
                  <a:srgbClr val="2E5AAC"/>
                </a:solidFill>
                <a:latin typeface="Calibri"/>
              </a:rPr>
              <a:t> STEPS 2</a:t>
            </a:r>
            <a:r>
              <a:rPr lang="en-US" sz="1250" b="1" i="0" dirty="0">
                <a:solidFill>
                  <a:srgbClr val="2E5AAC"/>
                </a:solidFill>
                <a:latin typeface="Calibri"/>
              </a:rPr>
              <a:t>-</a:t>
            </a:r>
            <a:r>
              <a:rPr sz="1250" b="1" i="0" dirty="0">
                <a:solidFill>
                  <a:srgbClr val="2E5AAC"/>
                </a:solidFill>
                <a:latin typeface="Calibri"/>
              </a:rPr>
              <a:t>3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4462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 dirty="0">
                <a:solidFill>
                  <a:srgbClr val="202060"/>
                </a:solidFill>
                <a:latin typeface="Calibri"/>
              </a:rPr>
              <a:t>Steps 2 &amp; 3 </a:t>
            </a:r>
            <a:r>
              <a:rPr lang="en-US" sz="2900" b="1" i="0" dirty="0">
                <a:solidFill>
                  <a:srgbClr val="202060"/>
                </a:solidFill>
                <a:latin typeface="Calibri"/>
              </a:rPr>
              <a:t>-</a:t>
            </a:r>
            <a:r>
              <a:rPr sz="2900" b="1" i="0" dirty="0">
                <a:solidFill>
                  <a:srgbClr val="202060"/>
                </a:solidFill>
                <a:latin typeface="Calibri"/>
              </a:rPr>
              <a:t> Chunking and LLM Rewriting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173736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1164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 dirty="0">
                <a:solidFill>
                  <a:srgbClr val="1A3A6E"/>
                </a:solidFill>
              </a:rPr>
              <a:t>▪  Step 2 </a:t>
            </a:r>
            <a:r>
              <a:rPr lang="en-US" sz="1600" b="1" dirty="0">
                <a:solidFill>
                  <a:srgbClr val="1A3A6E"/>
                </a:solidFill>
              </a:rPr>
              <a:t>-</a:t>
            </a:r>
            <a:r>
              <a:rPr sz="1600" b="1" dirty="0">
                <a:solidFill>
                  <a:srgbClr val="1A3A6E"/>
                </a:solidFill>
              </a:rPr>
              <a:t> Chunking.  </a:t>
            </a:r>
            <a:r>
              <a:rPr sz="1600" b="0" dirty="0">
                <a:solidFill>
                  <a:srgbClr val="1A1A2E"/>
                </a:solidFill>
              </a:rPr>
              <a:t>Split each creation into consecutive same-size chunks (P ≈ 400 words each). Full coverage </a:t>
            </a:r>
            <a:r>
              <a:rPr lang="en-US" sz="1600" b="0" dirty="0">
                <a:solidFill>
                  <a:srgbClr val="1A1A2E"/>
                </a:solidFill>
              </a:rPr>
              <a:t>-</a:t>
            </a:r>
            <a:r>
              <a:rPr sz="1600" b="0" dirty="0">
                <a:solidFill>
                  <a:srgbClr val="1A1A2E"/>
                </a:solidFill>
              </a:rPr>
              <a:t> every word, no sampling.</a:t>
            </a:r>
          </a:p>
          <a:p>
            <a:pPr>
              <a:spcAft>
                <a:spcPts val="1400"/>
              </a:spcAft>
            </a:pPr>
            <a:r>
              <a:rPr sz="1600" b="1" dirty="0">
                <a:solidFill>
                  <a:srgbClr val="1A3A6E"/>
                </a:solidFill>
              </a:rPr>
              <a:t>▪  Step 3 </a:t>
            </a:r>
            <a:r>
              <a:rPr lang="en-US" sz="1600" b="1" dirty="0">
                <a:solidFill>
                  <a:srgbClr val="1A3A6E"/>
                </a:solidFill>
              </a:rPr>
              <a:t>-</a:t>
            </a:r>
            <a:r>
              <a:rPr sz="1600" b="1" dirty="0">
                <a:solidFill>
                  <a:srgbClr val="1A3A6E"/>
                </a:solidFill>
              </a:rPr>
              <a:t> Rewriting.  </a:t>
            </a:r>
            <a:r>
              <a:rPr sz="1600" b="0" dirty="0">
                <a:solidFill>
                  <a:srgbClr val="1A1A2E"/>
                </a:solidFill>
              </a:rPr>
              <a:t>The LLM rewrites each chunk into the profile’s style </a:t>
            </a:r>
            <a:r>
              <a:rPr lang="en-US" sz="1600" b="0" dirty="0">
                <a:solidFill>
                  <a:srgbClr val="1A1A2E"/>
                </a:solidFill>
              </a:rPr>
              <a:t>-</a:t>
            </a:r>
            <a:r>
              <a:rPr sz="1600" b="0" dirty="0">
                <a:solidFill>
                  <a:srgbClr val="1A1A2E"/>
                </a:solidFill>
              </a:rPr>
              <a:t> preserve the content, change only the style.</a:t>
            </a:r>
            <a:r>
              <a:rPr sz="1600" i="1" dirty="0">
                <a:solidFill>
                  <a:srgbClr val="0E6E6E"/>
                </a:solidFill>
              </a:rPr>
              <a:t>  How much it must change is exactly the distance the method measures (Step 4).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3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5A5A6E"/>
                </a:solidFill>
                <a:latin typeface="Calibri"/>
              </a:rPr>
              <a:t>26</a:t>
            </a:r>
            <a:r>
              <a:rPr lang="en-US" sz="1050" b="0" i="0" dirty="0">
                <a:solidFill>
                  <a:srgbClr val="5A5A6E"/>
                </a:solidFill>
                <a:latin typeface="Calibri"/>
              </a:rPr>
              <a:t>-</a:t>
            </a:r>
            <a:r>
              <a:rPr sz="1050" b="0" i="0" dirty="0">
                <a:solidFill>
                  <a:srgbClr val="5A5A6E"/>
                </a:solidFill>
                <a:latin typeface="Calibri"/>
              </a:rPr>
              <a:t>2-R-6  ·  Multi-Modal LLM Style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41908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02060"/>
                </a:solidFill>
                <a:latin typeface="Calibri"/>
              </a:rPr>
              <a:t>6 / 15</a:t>
            </a:r>
          </a:p>
        </p:txBody>
      </p:sp>
      <p:pic>
        <p:nvPicPr>
          <p:cNvPr id="9" name="Picture 8" descr="step_fig_chunk_rewr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3429000"/>
            <a:ext cx="91440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0972800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dirty="0">
                <a:solidFill>
                  <a:srgbClr val="2E5AAC"/>
                </a:solidFill>
                <a:latin typeface="Calibri"/>
              </a:rPr>
              <a:t>METHOD </a:t>
            </a:r>
            <a:r>
              <a:rPr lang="en-US" sz="1250" b="1" i="0" dirty="0">
                <a:solidFill>
                  <a:srgbClr val="2E5AAC"/>
                </a:solidFill>
                <a:latin typeface="Calibri"/>
              </a:rPr>
              <a:t>-</a:t>
            </a:r>
            <a:r>
              <a:rPr sz="1250" b="1" i="0" dirty="0">
                <a:solidFill>
                  <a:srgbClr val="2E5AAC"/>
                </a:solidFill>
                <a:latin typeface="Calibri"/>
              </a:rPr>
              <a:t> STEP 4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4462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 dirty="0">
                <a:solidFill>
                  <a:srgbClr val="202060"/>
                </a:solidFill>
                <a:latin typeface="Calibri"/>
              </a:rPr>
              <a:t>Step 4 </a:t>
            </a:r>
            <a:r>
              <a:rPr lang="en-US" sz="2900" b="1" i="0" dirty="0">
                <a:solidFill>
                  <a:srgbClr val="202060"/>
                </a:solidFill>
                <a:latin typeface="Calibri"/>
              </a:rPr>
              <a:t>-</a:t>
            </a:r>
            <a:r>
              <a:rPr sz="2900" b="1" i="0" dirty="0">
                <a:solidFill>
                  <a:srgbClr val="202060"/>
                </a:solidFill>
                <a:latin typeface="Calibri"/>
              </a:rPr>
              <a:t> Function-Word Edit Distance (δ)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173736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691640"/>
                <a:ext cx="10698480" cy="731520"/>
              </a:xfrm>
              <a:prstGeom prst="roundRect">
                <a:avLst>
                  <a:gd name="adj" fmla="val 8000"/>
                </a:avLst>
              </a:prstGeom>
              <a:solidFill>
                <a:srgbClr val="20206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defRPr sz="2400" b="1">
                    <a:solidFill>
                      <a:srgbClr val="FFFFFF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h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𝑢𝑛𝑘</m:t>
                      </m:r>
                      <m:r>
                        <a:rPr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𝑟𝑒𝑤𝑟𝑖𝑡𝑒</m:t>
                      </m:r>
                      <m:r>
                        <a:rPr>
                          <a:latin typeface="Cambria Math" panose="02040503050406030204" pitchFamily="18" charset="0"/>
                        </a:rPr>
                        <m:t>)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𝑒𝑑𝑖𝑡𝑠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𝐹𝑊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𝑢𝑛𝑘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), 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𝐹𝑊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𝑟𝑒𝑤𝑟𝑖𝑡𝑒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))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(|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𝐹𝑊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𝑢𝑛𝑘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)|, 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𝐹𝑊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𝑟𝑒𝑤𝑟𝑖𝑡𝑒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)|)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691640"/>
                <a:ext cx="10698480" cy="731520"/>
              </a:xfrm>
              <a:prstGeom prst="roundRect">
                <a:avLst>
                  <a:gd name="adj" fmla="val 8000"/>
                </a:avLst>
              </a:prstGeom>
              <a:blipFill>
                <a:blip r:embed="rId3"/>
                <a:stretch>
                  <a:fillRect b="-16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31520" y="5120640"/>
            <a:ext cx="1069848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>
                <a:solidFill>
                  <a:srgbClr val="0E7C86"/>
                </a:solidFill>
                <a:latin typeface="Calibri"/>
              </a:rPr>
              <a:t>▪  </a:t>
            </a:r>
            <a:r>
              <a:rPr sz="1500" b="1" dirty="0">
                <a:solidFill>
                  <a:srgbClr val="202060"/>
                </a:solidFill>
                <a:latin typeface="Calibri"/>
              </a:rPr>
              <a:t>FW(text).  </a:t>
            </a:r>
            <a:r>
              <a:rPr sz="1500" b="0" dirty="0">
                <a:solidFill>
                  <a:srgbClr val="26262E"/>
                </a:solidFill>
                <a:latin typeface="Calibri"/>
              </a:rPr>
              <a:t>The ordered sequence of ~120 function words </a:t>
            </a:r>
            <a:r>
              <a:rPr lang="en-US" sz="1500" b="0" dirty="0">
                <a:solidFill>
                  <a:srgbClr val="26262E"/>
                </a:solidFill>
                <a:latin typeface="Calibri"/>
              </a:rPr>
              <a:t>-</a:t>
            </a:r>
            <a:r>
              <a:rPr sz="1500" b="0" dirty="0">
                <a:solidFill>
                  <a:srgbClr val="26262E"/>
                </a:solidFill>
                <a:latin typeface="Calibri"/>
              </a:rPr>
              <a:t> modern (you, has) and Early Modern (thou, hath) - with no author-specific cue baked in.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E7C86"/>
                </a:solidFill>
                <a:latin typeface="Calibri"/>
              </a:rPr>
              <a:t>▪  </a:t>
            </a:r>
            <a:r>
              <a:rPr sz="1500" b="1" dirty="0">
                <a:solidFill>
                  <a:srgbClr val="202060"/>
                </a:solidFill>
                <a:latin typeface="Calibri"/>
              </a:rPr>
              <a:t>Read δ directly.  </a:t>
            </a:r>
            <a:r>
              <a:rPr sz="1500" b="0" dirty="0">
                <a:solidFill>
                  <a:srgbClr val="26262E"/>
                </a:solidFill>
                <a:latin typeface="Calibri"/>
              </a:rPr>
              <a:t>The share of function words the rewrite had to change - a chunk already in the corpus's style barely changes (δ → 0); one by another hand needs more rework (δ large).</a:t>
            </a:r>
          </a:p>
          <a:p>
            <a:r>
              <a:rPr sz="1500" b="1" dirty="0">
                <a:solidFill>
                  <a:srgbClr val="0E7C86"/>
                </a:solidFill>
              </a:rPr>
              <a:t>▪  </a:t>
            </a:r>
            <a:r>
              <a:rPr lang="en-US" sz="1500" b="1" dirty="0">
                <a:solidFill>
                  <a:srgbClr val="202060"/>
                </a:solidFill>
              </a:rPr>
              <a:t>One example metric.  </a:t>
            </a:r>
            <a:r>
              <a:rPr sz="1500" b="0" dirty="0">
                <a:solidFill>
                  <a:srgbClr val="26262E"/>
                </a:solidFill>
              </a:rPr>
              <a:t>Function-Word Edit Distance is one of several distance metrics compared in Phase B.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3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6E"/>
                </a:solidFill>
                <a:latin typeface="Calibri"/>
              </a:rPr>
              <a:t>26-2-R-6  ·  Multi-Modal LLM Style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8575" y="641908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02060"/>
                </a:solidFill>
                <a:latin typeface="Calibri"/>
              </a:rPr>
              <a:t>7 / 15</a:t>
            </a:r>
          </a:p>
        </p:txBody>
      </p:sp>
      <p:pic>
        <p:nvPicPr>
          <p:cNvPr id="11" name="Picture 10" descr="concept_fwed_exam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3219" y="2423161"/>
            <a:ext cx="6615661" cy="26559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0972800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dirty="0">
                <a:solidFill>
                  <a:srgbClr val="2E5AAC"/>
                </a:solidFill>
                <a:latin typeface="Calibri"/>
              </a:rPr>
              <a:t>METHOD </a:t>
            </a:r>
            <a:r>
              <a:rPr lang="en-US" sz="1250" b="1" i="0" dirty="0">
                <a:solidFill>
                  <a:srgbClr val="2E5AAC"/>
                </a:solidFill>
                <a:latin typeface="Calibri"/>
              </a:rPr>
              <a:t>-</a:t>
            </a:r>
            <a:r>
              <a:rPr sz="1250" b="1" i="0" dirty="0">
                <a:solidFill>
                  <a:srgbClr val="2E5AAC"/>
                </a:solidFill>
                <a:latin typeface="Calibri"/>
              </a:rPr>
              <a:t> STEP 5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4462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 dirty="0">
                <a:solidFill>
                  <a:srgbClr val="202060"/>
                </a:solidFill>
                <a:latin typeface="Calibri"/>
              </a:rPr>
              <a:t>Step 5 </a:t>
            </a:r>
            <a:r>
              <a:rPr lang="en-US" sz="2900" b="1" i="0" dirty="0">
                <a:solidFill>
                  <a:srgbClr val="202060"/>
                </a:solidFill>
                <a:latin typeface="Calibri"/>
              </a:rPr>
              <a:t>-</a:t>
            </a:r>
            <a:r>
              <a:rPr sz="2900" b="1" i="0" dirty="0">
                <a:solidFill>
                  <a:srgbClr val="202060"/>
                </a:solidFill>
                <a:latin typeface="Calibri"/>
              </a:rPr>
              <a:t> Aggregation &amp; Robustness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173736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 dirty="0">
                <a:solidFill>
                  <a:srgbClr val="0E7C86"/>
                </a:solidFill>
                <a:latin typeface="Calibri"/>
              </a:rPr>
              <a:t>▪  </a:t>
            </a:r>
            <a:r>
              <a:rPr sz="1600" b="1" dirty="0">
                <a:solidFill>
                  <a:srgbClr val="202060"/>
                </a:solidFill>
                <a:latin typeface="Calibri"/>
              </a:rPr>
              <a:t>Aggregation.  </a:t>
            </a:r>
            <a:r>
              <a:rPr sz="1600" b="0" dirty="0">
                <a:solidFill>
                  <a:srgbClr val="26262E"/>
                </a:solidFill>
                <a:latin typeface="Calibri"/>
              </a:rPr>
              <a:t>Average δ over a creation’s chunks → mean over the independent runs → one score per creation.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 dirty="0">
                <a:solidFill>
                  <a:srgbClr val="0E7C86"/>
                </a:solidFill>
                <a:latin typeface="Calibri"/>
              </a:rPr>
              <a:t>▪  </a:t>
            </a:r>
            <a:r>
              <a:rPr sz="1600" b="1" dirty="0">
                <a:solidFill>
                  <a:srgbClr val="202060"/>
                </a:solidFill>
                <a:latin typeface="Calibri"/>
              </a:rPr>
              <a:t>Independent runs.  </a:t>
            </a:r>
            <a:r>
              <a:rPr sz="1600" b="0" dirty="0">
                <a:solidFill>
                  <a:srgbClr val="26262E"/>
                </a:solidFill>
                <a:latin typeface="Calibri"/>
              </a:rPr>
              <a:t>The pipeline runs several times, each re-extracting its profile; averaging cancels the LLM’s run-to-run randomness.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3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6E"/>
                </a:solidFill>
                <a:latin typeface="Calibri"/>
              </a:rPr>
              <a:t>26-2-R-6  ·  Multi-Modal LLM Style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41908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02060"/>
                </a:solidFill>
                <a:latin typeface="Calibri"/>
              </a:rPr>
              <a:t>8 / 15</a:t>
            </a:r>
          </a:p>
        </p:txBody>
      </p:sp>
      <p:pic>
        <p:nvPicPr>
          <p:cNvPr id="9" name="Picture 8" descr="step_fig_aggre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3429000"/>
            <a:ext cx="9144000" cy="24688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תיבת טקסט 10">
                <a:extLst>
                  <a:ext uri="{FF2B5EF4-FFF2-40B4-BE49-F238E27FC236}">
                    <a16:creationId xmlns:a16="http://schemas.microsoft.com/office/drawing/2014/main" id="{A101B261-E70B-86C8-711E-02D988244259}"/>
                  </a:ext>
                </a:extLst>
              </p:cNvPr>
              <p:cNvSpPr txBox="1"/>
              <p:nvPr/>
            </p:nvSpPr>
            <p:spPr>
              <a:xfrm>
                <a:off x="1819183" y="2595694"/>
                <a:ext cx="8553327" cy="6619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𝑐𝑟𝑒𝑎𝑡𝑖𝑜𝑛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) = 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𝑢𝑛𝑘𝑠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𝑐𝑟𝑒𝑎𝑡𝑖𝑜𝑛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)|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𝑢𝑛𝑘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 ∈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𝑐𝑟𝑒𝑎𝑡𝑖𝑜𝑛</m:t>
                          </m:r>
                        </m:sub>
                        <m:sup/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𝑢𝑛𝑘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𝑟𝑒𝑤𝑟𝑖𝑡𝑒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11" name="תיבת טקסט 10">
                <a:extLst>
                  <a:ext uri="{FF2B5EF4-FFF2-40B4-BE49-F238E27FC236}">
                    <a16:creationId xmlns:a16="http://schemas.microsoft.com/office/drawing/2014/main" id="{A101B261-E70B-86C8-711E-02D988244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183" y="2595694"/>
                <a:ext cx="8553327" cy="6619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AggFormulas"/>
              <p:cNvSpPr txBox="1"/>
              <p:nvPr/>
            </p:nvSpPr>
            <p:spPr>
              <a:xfrm>
                <a:off x="6435506" y="3248348"/>
                <a:ext cx="3582647" cy="70185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>
                  <a:defRPr sz="1300" b="1">
                    <a:solidFill>
                      <a:srgbClr val="16213E"/>
                    </a:solidFill>
                  </a:defRPr>
                </a:pPr>
                <a:endParaRPr dirty="0"/>
              </a:p>
              <a:p>
                <a:pPr algn="ctr">
                  <a:defRPr sz="1300" b="1">
                    <a:solidFill>
                      <a:srgbClr val="16213E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𝑐𝑟𝑒𝑎𝑡𝑖𝑜𝑛</m:t>
                      </m:r>
                      <m:r>
                        <a:rPr>
                          <a:latin typeface="Cambria Math" panose="02040503050406030204" pitchFamily="18" charset="0"/>
                        </a:rPr>
                        <m:t>)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𝑠𝑐𝑜𝑟𝑒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𝑐𝑟𝑒𝑎𝑡𝑖𝑜𝑛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0" name="AggFormula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506" y="3248348"/>
                <a:ext cx="3582647" cy="701859"/>
              </a:xfrm>
              <a:prstGeom prst="rect">
                <a:avLst/>
              </a:prstGeom>
              <a:blipFill>
                <a:blip r:embed="rId5"/>
                <a:stretch>
                  <a:fillRect t="-66087" b="-14521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0972800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dirty="0">
                <a:solidFill>
                  <a:srgbClr val="2E5AAC"/>
                </a:solidFill>
                <a:latin typeface="Calibri"/>
              </a:rPr>
              <a:t>METHOD </a:t>
            </a:r>
            <a:r>
              <a:rPr lang="en-US" sz="1250" b="1" i="0" dirty="0">
                <a:solidFill>
                  <a:srgbClr val="2E5AAC"/>
                </a:solidFill>
                <a:latin typeface="Calibri"/>
              </a:rPr>
              <a:t>-</a:t>
            </a:r>
            <a:r>
              <a:rPr sz="1250" b="1" i="0" dirty="0">
                <a:solidFill>
                  <a:srgbClr val="2E5AAC"/>
                </a:solidFill>
                <a:latin typeface="Calibri"/>
              </a:rPr>
              <a:t> STEP 6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4462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 dirty="0">
                <a:solidFill>
                  <a:srgbClr val="202060"/>
                </a:solidFill>
                <a:latin typeface="Calibri"/>
              </a:rPr>
              <a:t>Step 6 </a:t>
            </a:r>
            <a:r>
              <a:rPr lang="en-US" sz="2900" b="1" i="0" dirty="0">
                <a:solidFill>
                  <a:srgbClr val="202060"/>
                </a:solidFill>
                <a:latin typeface="Calibri"/>
              </a:rPr>
              <a:t>-</a:t>
            </a:r>
            <a:r>
              <a:rPr sz="2900" b="1" i="0" dirty="0">
                <a:solidFill>
                  <a:srgbClr val="202060"/>
                </a:solidFill>
                <a:latin typeface="Calibri"/>
              </a:rPr>
              <a:t> Threshold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173736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532120" cy="23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1" dirty="0">
                <a:solidFill>
                  <a:srgbClr val="1A3A6E"/>
                </a:solidFill>
              </a:rPr>
              <a:t>▪  Threshold split.  </a:t>
            </a:r>
            <a:r>
              <a:rPr sz="1600" b="0" dirty="0">
                <a:solidFill>
                  <a:srgbClr val="1A1A2E"/>
                </a:solidFill>
              </a:rPr>
              <a:t>Otsu’s parameter-free threshold τ </a:t>
            </a:r>
            <a:r>
              <a:rPr lang="en-US" sz="1600" b="0" dirty="0">
                <a:solidFill>
                  <a:srgbClr val="1A1A2E"/>
                </a:solidFill>
              </a:rPr>
              <a:t>-</a:t>
            </a:r>
            <a:r>
              <a:rPr sz="1600" b="0" dirty="0">
                <a:solidFill>
                  <a:srgbClr val="1A1A2E"/>
                </a:solidFill>
              </a:rPr>
              <a:t> one option illustrated here, of several classifiers (e.g. Gaussian-mixture) compared in Phase B </a:t>
            </a:r>
            <a:r>
              <a:rPr lang="en-US" sz="1600" b="0" dirty="0">
                <a:solidFill>
                  <a:srgbClr val="1A1A2E"/>
                </a:solidFill>
              </a:rPr>
              <a:t>-</a:t>
            </a:r>
            <a:r>
              <a:rPr sz="1600" b="0" dirty="0">
                <a:solidFill>
                  <a:srgbClr val="1A1A2E"/>
                </a:solidFill>
              </a:rPr>
              <a:t> splits the 49 scores into authentic vs. suspicious; it fits because the suspicious class is not a rare minority.</a:t>
            </a:r>
          </a:p>
          <a:p>
            <a:pPr>
              <a:spcAft>
                <a:spcPts val="1400"/>
              </a:spcAft>
            </a:pPr>
            <a:r>
              <a:rPr sz="1600" b="1" dirty="0">
                <a:solidFill>
                  <a:srgbClr val="1A3A6E"/>
                </a:solidFill>
              </a:rPr>
              <a:t>▪  Single round (Phase A).  </a:t>
            </a:r>
            <a:r>
              <a:rPr sz="1600" b="0" dirty="0">
                <a:solidFill>
                  <a:srgbClr val="1A1A2E"/>
                </a:solidFill>
              </a:rPr>
              <a:t>Each run re-extracts its profile → scores averaged over the independent runs → one threshold split, with no feedback loop. Iterative purification is deferred to Phase B, adopted only if the single-round threshold proves unstable.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3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6E"/>
                </a:solidFill>
                <a:latin typeface="Calibri"/>
              </a:rPr>
              <a:t>26-2-R-6  ·  Multi-Modal LLM Style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41908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02060"/>
                </a:solidFill>
                <a:latin typeface="Calibri"/>
              </a:rPr>
              <a:t>9 / 15</a:t>
            </a:r>
          </a:p>
        </p:txBody>
      </p:sp>
      <p:pic>
        <p:nvPicPr>
          <p:cNvPr id="11" name="Picture 10" descr="concept_sepa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331720"/>
            <a:ext cx="5532120" cy="32476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5AAC"/>
                </a:solidFill>
                <a:latin typeface="Calibri"/>
              </a:rPr>
              <a:t>SUCCESS METRICS &amp; EXPECTED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4462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 dirty="0">
                <a:solidFill>
                  <a:srgbClr val="202060"/>
                </a:solidFill>
                <a:latin typeface="Calibri"/>
              </a:rPr>
              <a:t>Evaluation </a:t>
            </a:r>
            <a:r>
              <a:rPr lang="en-US" sz="2900" b="1" i="0" dirty="0">
                <a:solidFill>
                  <a:srgbClr val="202060"/>
                </a:solidFill>
                <a:latin typeface="Calibri"/>
              </a:rPr>
              <a:t>-</a:t>
            </a:r>
            <a:r>
              <a:rPr sz="2900" b="1" i="0" dirty="0">
                <a:solidFill>
                  <a:srgbClr val="202060"/>
                </a:solidFill>
                <a:latin typeface="Calibri"/>
              </a:rPr>
              <a:t> success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173736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9925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 dirty="0">
                <a:solidFill>
                  <a:srgbClr val="0E7C86"/>
                </a:solidFill>
                <a:latin typeface="Calibri"/>
              </a:rPr>
              <a:t>Success metrics (checked in Phase B)</a:t>
            </a:r>
            <a:endParaRPr lang="en-US" sz="1450" b="1" dirty="0">
              <a:solidFill>
                <a:srgbClr val="0E7C8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450" b="1" dirty="0">
                <a:solidFill>
                  <a:srgbClr val="0E7C86"/>
                </a:solidFill>
                <a:latin typeface="Calibri"/>
              </a:rPr>
              <a:t>▪  </a:t>
            </a:r>
            <a:r>
              <a:rPr lang="en-US" sz="1450" b="1" dirty="0">
                <a:solidFill>
                  <a:srgbClr val="202060"/>
                </a:solidFill>
                <a:latin typeface="Calibri"/>
              </a:rPr>
              <a:t>Profile contribution.  </a:t>
            </a:r>
            <a:r>
              <a:rPr lang="en-US" sz="1450" b="0" dirty="0">
                <a:solidFill>
                  <a:srgbClr val="26262E"/>
                </a:solidFill>
                <a:latin typeface="Calibri"/>
              </a:rPr>
              <a:t>Profile </a:t>
            </a:r>
            <a:r>
              <a:rPr lang="el-GR" sz="1450" b="0" dirty="0">
                <a:solidFill>
                  <a:srgbClr val="26262E"/>
                </a:solidFill>
                <a:latin typeface="Calibri"/>
              </a:rPr>
              <a:t>δ &lt; </a:t>
            </a:r>
            <a:r>
              <a:rPr lang="en-US" sz="1450" b="0" dirty="0">
                <a:solidFill>
                  <a:srgbClr val="26262E"/>
                </a:solidFill>
                <a:latin typeface="Calibri"/>
              </a:rPr>
              <a:t>generic-prompt </a:t>
            </a:r>
            <a:r>
              <a:rPr lang="el-GR" sz="1450" b="0" dirty="0">
                <a:solidFill>
                  <a:srgbClr val="26262E"/>
                </a:solidFill>
                <a:latin typeface="Calibri"/>
              </a:rPr>
              <a:t>δ (</a:t>
            </a:r>
            <a:r>
              <a:rPr lang="en-US" sz="1450" b="0" dirty="0">
                <a:solidFill>
                  <a:srgbClr val="26262E"/>
                </a:solidFill>
                <a:latin typeface="Calibri"/>
              </a:rPr>
              <a:t>paired t-test, </a:t>
            </a:r>
            <a:r>
              <a:rPr lang="el-GR" sz="1450" b="0" dirty="0">
                <a:solidFill>
                  <a:srgbClr val="26262E"/>
                </a:solidFill>
                <a:latin typeface="Calibri"/>
              </a:rPr>
              <a:t>α = 0.05).</a:t>
            </a:r>
          </a:p>
          <a:p>
            <a:r>
              <a:rPr sz="1450" b="1" dirty="0">
                <a:solidFill>
                  <a:srgbClr val="0E7C86"/>
                </a:solidFill>
                <a:latin typeface="Calibri"/>
              </a:rPr>
              <a:t>▪  </a:t>
            </a:r>
            <a:r>
              <a:rPr lang="en-US" sz="1450" b="1" dirty="0">
                <a:solidFill>
                  <a:srgbClr val="202060"/>
                </a:solidFill>
              </a:rPr>
              <a:t>Agreement with scholarly consensus</a:t>
            </a:r>
            <a:r>
              <a:rPr sz="1450" b="1" dirty="0">
                <a:solidFill>
                  <a:srgbClr val="202060"/>
                </a:solidFill>
                <a:latin typeface="Calibri"/>
              </a:rPr>
              <a:t>.  </a:t>
            </a:r>
            <a:r>
              <a:rPr sz="1450" b="0" dirty="0">
                <a:solidFill>
                  <a:srgbClr val="26262E"/>
                </a:solidFill>
                <a:latin typeface="Calibri"/>
              </a:rPr>
              <a:t>The method’s suspicious set matches established scholarly-consensus co-authorship findings (e.g. Henry VIII / Fletcher, Henry VI / Marlowe) on at least 4 of 5 firmest cases.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413248"/>
            <a:ext cx="101498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dirty="0">
                <a:solidFill>
                  <a:srgbClr val="202060"/>
                </a:solidFill>
                <a:latin typeface="Calibri"/>
              </a:rPr>
              <a:t>Expected outputs:  </a:t>
            </a:r>
            <a:r>
              <a:rPr sz="1400" dirty="0">
                <a:solidFill>
                  <a:srgbClr val="26262E"/>
                </a:solidFill>
                <a:latin typeface="Calibri"/>
              </a:rPr>
              <a:t>sorted scatter of all 49 scores with the threshold marked, a labeled suspicious-creations list with continuous scores, and per-creation confidence</a:t>
            </a:r>
            <a:r>
              <a:rPr lang="en-US" sz="1400" dirty="0">
                <a:solidFill>
                  <a:srgbClr val="26262E"/>
                </a:solidFill>
                <a:latin typeface="Calibri"/>
              </a:rPr>
              <a:t>.</a:t>
            </a:r>
            <a:endParaRPr sz="1400" dirty="0">
              <a:solidFill>
                <a:srgbClr val="26262E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3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6E"/>
                </a:solidFill>
                <a:latin typeface="Calibri"/>
              </a:rPr>
              <a:t>26-2-R-6  ·  Multi-Modal LLM Style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8575" y="641908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02060"/>
                </a:solidFill>
                <a:latin typeface="Calibri"/>
              </a:rPr>
              <a:t>10 / 15</a:t>
            </a:r>
          </a:p>
        </p:txBody>
      </p:sp>
      <p:pic>
        <p:nvPicPr>
          <p:cNvPr id="12" name="Picture 11" descr="step_fig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659" y="3154680"/>
            <a:ext cx="6679692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5AAC"/>
                </a:solidFill>
                <a:latin typeface="Calibri"/>
              </a:rPr>
              <a:t>TESTING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 dirty="0">
                <a:solidFill>
                  <a:srgbClr val="202060"/>
                </a:solidFill>
                <a:latin typeface="Calibri"/>
              </a:rPr>
              <a:t>How the method will be validated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173736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3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6E"/>
                </a:solidFill>
                <a:latin typeface="Calibri"/>
              </a:rPr>
              <a:t>26-2-R-6  ·  Multi-Modal LLM Style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41908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02060"/>
                </a:solidFill>
                <a:latin typeface="Calibri"/>
              </a:rPr>
              <a:t>11 / 15</a:t>
            </a:r>
          </a:p>
        </p:txBody>
      </p:sp>
      <p:graphicFrame>
        <p:nvGraphicFramePr>
          <p:cNvPr id="11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390631"/>
              </p:ext>
            </p:extLst>
          </p:nvPr>
        </p:nvGraphicFramePr>
        <p:xfrm>
          <a:off x="569671" y="1983105"/>
          <a:ext cx="11055096" cy="20848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1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 marR="73152" anchor="ctr">
                    <a:solidFill>
                      <a:srgbClr val="23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FFFFFF"/>
                          </a:solidFill>
                        </a:rPr>
                        <a:t>Procedure</a:t>
                      </a:r>
                    </a:p>
                  </a:txBody>
                  <a:tcPr marR="73152" anchor="ctr">
                    <a:solidFill>
                      <a:srgbClr val="23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Passes if</a:t>
                      </a:r>
                    </a:p>
                  </a:txBody>
                  <a:tcPr marR="73152" anchor="ctr">
                    <a:solidFill>
                      <a:srgbClr val="23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lang="en-IL" sz="1400" b="1" dirty="0"/>
                        <a:t>Mixture Detection</a:t>
                      </a:r>
                      <a:endParaRPr sz="1200" b="1" dirty="0">
                        <a:solidFill>
                          <a:srgbClr val="232B45"/>
                        </a:solidFill>
                      </a:endParaRP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L" sz="1400" dirty="0"/>
                        <a:t>Constructing a text composed mostly of Author A with a small injection of Author B.</a:t>
                      </a:r>
                      <a:endParaRPr sz="1200" b="0" dirty="0">
                        <a:solidFill>
                          <a:srgbClr val="232B45"/>
                        </a:solidFill>
                      </a:endParaRP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rgbClr val="5B6270"/>
                          </a:solidFill>
                        </a:rPr>
                        <a:t>The method </a:t>
                      </a:r>
                      <a:r>
                        <a:rPr lang="en-IL" sz="1400" dirty="0"/>
                        <a:t>distinguishes</a:t>
                      </a:r>
                      <a:r>
                        <a:rPr lang="en-US" sz="1400" b="0" dirty="0">
                          <a:solidFill>
                            <a:srgbClr val="5B6270"/>
                          </a:solidFill>
                        </a:rPr>
                        <a:t> between them</a:t>
                      </a:r>
                      <a:endParaRPr sz="1200" b="0" dirty="0">
                        <a:solidFill>
                          <a:srgbClr val="5B6270"/>
                        </a:solidFill>
                      </a:endParaRP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232B45"/>
                          </a:solidFill>
                        </a:rPr>
                        <a:t>Stability </a:t>
                      </a:r>
                      <a:r>
                        <a:rPr lang="en-US" sz="1400" b="1" dirty="0">
                          <a:solidFill>
                            <a:srgbClr val="232B45"/>
                          </a:solidFill>
                        </a:rPr>
                        <a:t>-</a:t>
                      </a:r>
                      <a:r>
                        <a:rPr sz="1400" b="1" dirty="0">
                          <a:solidFill>
                            <a:srgbClr val="232B45"/>
                          </a:solidFill>
                        </a:rPr>
                        <a:t> noise (main proposal)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/>
                        <a:t>One different foreign creation injected per run.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5B6270"/>
                          </a:solidFill>
                        </a:rPr>
                        <a:t>Authentic labels stay stable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232B45"/>
                          </a:solidFill>
                        </a:rPr>
                        <a:t>Calibration </a:t>
                      </a:r>
                      <a:r>
                        <a:rPr lang="en-IL" sz="1400" b="1" dirty="0">
                          <a:solidFill>
                            <a:srgbClr val="232B45"/>
                          </a:solidFill>
                        </a:rPr>
                        <a:t>-</a:t>
                      </a:r>
                      <a:r>
                        <a:rPr sz="1400" b="1" dirty="0">
                          <a:solidFill>
                            <a:srgbClr val="232B45"/>
                          </a:solidFill>
                        </a:rPr>
                        <a:t> runs M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/>
                        <a:t>Rewriting the same chunks M times.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5B6270"/>
                          </a:solidFill>
                        </a:rPr>
                        <a:t>δ </a:t>
                      </a:r>
                      <a:r>
                        <a:rPr lang="en-US" sz="1400" b="0" dirty="0">
                          <a:solidFill>
                            <a:srgbClr val="5B6270"/>
                          </a:solidFill>
                        </a:rPr>
                        <a:t>stable across the </a:t>
                      </a:r>
                      <a:r>
                        <a:rPr sz="1400" b="0" dirty="0">
                          <a:solidFill>
                            <a:srgbClr val="5B6270"/>
                          </a:solidFill>
                        </a:rPr>
                        <a:t>M</a:t>
                      </a:r>
                      <a:r>
                        <a:rPr lang="en-US" sz="1400" b="0" dirty="0">
                          <a:solidFill>
                            <a:srgbClr val="5B6270"/>
                          </a:solidFill>
                        </a:rPr>
                        <a:t> runs; otherwise raise M and repeat</a:t>
                      </a:r>
                      <a:endParaRPr sz="1200" b="0" dirty="0">
                        <a:solidFill>
                          <a:srgbClr val="5B6270"/>
                        </a:solidFill>
                      </a:endParaRP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5AAC"/>
                </a:solidFill>
                <a:latin typeface="Calibri"/>
              </a:rPr>
              <a:t>EXECUTION PLAN &amp; RISK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4462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 dirty="0">
                <a:solidFill>
                  <a:srgbClr val="202060"/>
                </a:solidFill>
                <a:latin typeface="Calibri"/>
              </a:rPr>
              <a:t>Phase B </a:t>
            </a:r>
            <a:r>
              <a:rPr lang="en-US" sz="2900" b="1" i="0" dirty="0">
                <a:solidFill>
                  <a:srgbClr val="202060"/>
                </a:solidFill>
                <a:latin typeface="Calibri"/>
              </a:rPr>
              <a:t>-</a:t>
            </a:r>
            <a:r>
              <a:rPr sz="2900" b="1" i="0" dirty="0">
                <a:solidFill>
                  <a:srgbClr val="202060"/>
                </a:solidFill>
                <a:latin typeface="Calibri"/>
              </a:rPr>
              <a:t> work plan &amp; key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173736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98448" y="1737360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50" b="1" i="0" dirty="0">
                <a:solidFill>
                  <a:srgbClr val="202060"/>
                </a:solidFill>
                <a:latin typeface="Calibri"/>
              </a:rPr>
              <a:t>Reproducibility &amp; sensitivity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26262E"/>
                </a:solidFill>
                <a:latin typeface="Calibri"/>
              </a:rPr>
              <a:t>Independent runs on identical inputs; vary P and check label stability.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551176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202060"/>
                </a:solidFill>
                <a:latin typeface="Calibri"/>
              </a:rPr>
              <a:t>Full-corpus run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6262E"/>
                </a:solidFill>
                <a:latin typeface="Calibri"/>
              </a:rPr>
              <a:t>All 49 creations, single round; scatter + Otsu; record the suspicious set.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313963"/>
            <a:ext cx="10241280" cy="4514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50" b="1" i="0" dirty="0">
                <a:solidFill>
                  <a:srgbClr val="202060"/>
                </a:solidFill>
                <a:latin typeface="Calibri"/>
              </a:rPr>
              <a:t>Optional refinement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00" b="0" i="0" dirty="0">
                <a:solidFill>
                  <a:srgbClr val="26262E"/>
                </a:solidFill>
                <a:latin typeface="Calibri"/>
              </a:rPr>
              <a:t>Re-extract the profile from authentic-only creations and repeat.</a:t>
            </a:r>
            <a:endParaRPr sz="1300" b="0" i="0" dirty="0">
              <a:solidFill>
                <a:srgbClr val="26262E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573328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202060"/>
                </a:solidFill>
                <a:latin typeface="Calibri"/>
              </a:rPr>
              <a:t>Constraints &amp; risk mitigation:  </a:t>
            </a:r>
            <a:r>
              <a:rPr sz="1400" dirty="0">
                <a:solidFill>
                  <a:srgbClr val="26262E"/>
                </a:solidFill>
                <a:latin typeface="Calibri"/>
              </a:rPr>
              <a:t>LLM memorization → control experiment / held-out corpus  ·  run-to-run randomness → average several independent runs &amp; pin model  ·  long-context paraphrasing → short chunks &amp; sensitivity sweep  ·  non-bimodal scores → Gaussian-mixture fallback.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3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64190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6E"/>
                </a:solidFill>
                <a:latin typeface="Calibri"/>
              </a:rPr>
              <a:t>26-2-R-6  ·  Multi-Modal LLM Style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8575" y="641908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02060"/>
                </a:solidFill>
                <a:latin typeface="Calibri"/>
              </a:rPr>
              <a:t>12 / 15</a:t>
            </a:r>
          </a:p>
        </p:txBody>
      </p:sp>
      <p:sp>
        <p:nvSpPr>
          <p:cNvPr id="24" name="Oval 23"/>
          <p:cNvSpPr/>
          <p:nvPr/>
        </p:nvSpPr>
        <p:spPr>
          <a:xfrm>
            <a:off x="749808" y="1806235"/>
            <a:ext cx="310896" cy="310896"/>
          </a:xfrm>
          <a:prstGeom prst="ellipse">
            <a:avLst/>
          </a:prstGeom>
          <a:solidFill>
            <a:srgbClr val="2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2610907"/>
            <a:ext cx="310896" cy="310896"/>
          </a:xfrm>
          <a:prstGeom prst="ellipse">
            <a:avLst/>
          </a:prstGeom>
          <a:solidFill>
            <a:srgbClr val="2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Oval 25"/>
          <p:cNvSpPr/>
          <p:nvPr/>
        </p:nvSpPr>
        <p:spPr>
          <a:xfrm>
            <a:off x="749808" y="3345967"/>
            <a:ext cx="310896" cy="310896"/>
          </a:xfrm>
          <a:prstGeom prst="ellipse">
            <a:avLst/>
          </a:prstGeom>
          <a:solidFill>
            <a:srgbClr val="2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5AAC"/>
                </a:solidFill>
                <a:latin typeface="Calibri"/>
              </a:rP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02060"/>
                </a:solidFill>
                <a:latin typeface="Calibri"/>
              </a:rPr>
              <a:t>Tools &amp; technologies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173736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070660"/>
              </p:ext>
            </p:extLst>
          </p:nvPr>
        </p:nvGraphicFramePr>
        <p:xfrm>
          <a:off x="731520" y="1645920"/>
          <a:ext cx="10698479" cy="457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109728" marT="18288" marB="18288" anchor="ctr">
                    <a:solidFill>
                      <a:srgbClr val="2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109728" marT="18288" marB="18288" anchor="ctr">
                    <a:solidFill>
                      <a:srgbClr val="2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60"/>
                          </a:solidFill>
                          <a:latin typeface="Calibri"/>
                        </a:rPr>
                        <a:t>Python 3.11</a:t>
                      </a:r>
                    </a:p>
                  </a:txBody>
                  <a:tcPr marL="109728" marT="18288" marB="18288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E"/>
                          </a:solidFill>
                          <a:latin typeface="Calibri"/>
                        </a:rPr>
                        <a:t>Primary implementation language</a:t>
                      </a:r>
                    </a:p>
                  </a:txBody>
                  <a:tcPr marL="109728" marT="18288" marB="18288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60"/>
                          </a:solidFill>
                          <a:latin typeface="Calibri"/>
                        </a:rPr>
                        <a:t>Pipeline LLM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dirty="0">
                          <a:solidFill>
                            <a:srgbClr val="26262E"/>
                          </a:solidFill>
                          <a:latin typeface="Calibri"/>
                        </a:rPr>
                        <a:t>Style extraction &amp; rewriting; needs a long context window </a:t>
                      </a:r>
                      <a:r>
                        <a:rPr lang="en-IL" sz="1250" dirty="0">
                          <a:solidFill>
                            <a:srgbClr val="26262E"/>
                          </a:solidFill>
                          <a:latin typeface="Calibri"/>
                        </a:rPr>
                        <a:t>-</a:t>
                      </a:r>
                      <a:r>
                        <a:rPr sz="1250" dirty="0">
                          <a:solidFill>
                            <a:srgbClr val="26262E"/>
                          </a:solidFill>
                          <a:latin typeface="Calibri"/>
                        </a:rPr>
                        <a:t> the model is chosen in the POC, judged by rewrite fidelity &amp; run-to-run stability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60"/>
                          </a:solidFill>
                          <a:latin typeface="Calibri"/>
                        </a:rPr>
                        <a:t>Gemini 2.5 / GPT-class / Claude</a:t>
                      </a:r>
                    </a:p>
                  </a:txBody>
                  <a:tcPr marL="109728" marT="18288" marB="18288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E"/>
                          </a:solidFill>
                          <a:latin typeface="Calibri"/>
                        </a:rPr>
                        <a:t>Candidate pipeline LLMs compared on the pilot subset</a:t>
                      </a:r>
                    </a:p>
                  </a:txBody>
                  <a:tcPr marL="109728" marT="18288" marB="18288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60"/>
                          </a:solidFill>
                          <a:latin typeface="Calibri"/>
                        </a:rPr>
                        <a:t>python-Levenshtein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E"/>
                          </a:solidFill>
                          <a:latin typeface="Calibri"/>
                        </a:rPr>
                        <a:t>Function-word edit-distance computation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60"/>
                          </a:solidFill>
                          <a:latin typeface="Calibri"/>
                        </a:rPr>
                        <a:t>scikit-image</a:t>
                      </a:r>
                    </a:p>
                  </a:txBody>
                  <a:tcPr marL="109728" marT="18288" marB="18288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E"/>
                          </a:solidFill>
                          <a:latin typeface="Calibri"/>
                        </a:rPr>
                        <a:t>Otsu's automatic 1-D threshold</a:t>
                      </a:r>
                    </a:p>
                  </a:txBody>
                  <a:tcPr marL="109728" marT="18288" marB="18288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60"/>
                          </a:solidFill>
                          <a:latin typeface="Calibri"/>
                        </a:rPr>
                        <a:t>scikit-learn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E"/>
                          </a:solidFill>
                          <a:latin typeface="Calibri"/>
                        </a:rPr>
                        <a:t>Comparison classifiers (cross-check vs. the prior baseline)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60"/>
                          </a:solidFill>
                          <a:latin typeface="Calibri"/>
                        </a:rPr>
                        <a:t>NumPy / Pandas</a:t>
                      </a:r>
                    </a:p>
                  </a:txBody>
                  <a:tcPr marL="109728" marT="18288" marB="18288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E"/>
                          </a:solidFill>
                          <a:latin typeface="Calibri"/>
                        </a:rPr>
                        <a:t>Numerical &amp; tabular data handling</a:t>
                      </a:r>
                    </a:p>
                  </a:txBody>
                  <a:tcPr marL="109728" marT="18288" marB="18288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60"/>
                          </a:solidFill>
                          <a:latin typeface="Calibri"/>
                        </a:rPr>
                        <a:t>Matplotlib / Seaborn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E"/>
                          </a:solidFill>
                          <a:latin typeface="Calibri"/>
                        </a:rPr>
                        <a:t>Scatter plots, histograms, convergence curves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60"/>
                          </a:solidFill>
                          <a:latin typeface="Calibri"/>
                        </a:rPr>
                        <a:t>Project Gutenberg</a:t>
                      </a:r>
                    </a:p>
                  </a:txBody>
                  <a:tcPr marL="109728" marT="18288" marB="18288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dirty="0">
                          <a:solidFill>
                            <a:srgbClr val="26262E"/>
                          </a:solidFill>
                          <a:latin typeface="Calibri"/>
                        </a:rPr>
                        <a:t>Text corpus </a:t>
                      </a:r>
                      <a:r>
                        <a:rPr lang="en-US" sz="1250" dirty="0">
                          <a:solidFill>
                            <a:srgbClr val="26262E"/>
                          </a:solidFill>
                          <a:latin typeface="Calibri"/>
                        </a:rPr>
                        <a:t>-</a:t>
                      </a:r>
                      <a:r>
                        <a:rPr sz="1250" dirty="0">
                          <a:solidFill>
                            <a:srgbClr val="26262E"/>
                          </a:solidFill>
                          <a:latin typeface="Calibri"/>
                        </a:rPr>
                        <a:t> 49 creations (identical to the prior study)</a:t>
                      </a:r>
                    </a:p>
                  </a:txBody>
                  <a:tcPr marL="109728" marT="18288" marB="18288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60"/>
                          </a:solidFill>
                          <a:latin typeface="Calibri"/>
                        </a:rPr>
                        <a:t>Git / GitHub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E"/>
                          </a:solidFill>
                          <a:latin typeface="Calibri"/>
                        </a:rPr>
                        <a:t>Version control, prompt/code sharing, submission artifact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3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6E"/>
                </a:solidFill>
                <a:latin typeface="Calibri"/>
              </a:rPr>
              <a:t>26-2-R-6  ·  Multi-Modal LLM Style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41908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02060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5AAC"/>
                </a:solidFill>
                <a:latin typeface="Calibri"/>
              </a:rPr>
              <a:t>WHERE THE PROJECT STANDS,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02060"/>
                </a:solidFill>
                <a:latin typeface="Calibri"/>
              </a:rPr>
              <a:t>Summary &amp; Phase B outlook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173736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11618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700" b="1" dirty="0">
                <a:solidFill>
                  <a:srgbClr val="0E7C86"/>
                </a:solidFill>
                <a:latin typeface="Calibri"/>
              </a:rPr>
              <a:t>▪  </a:t>
            </a:r>
            <a:r>
              <a:rPr sz="1700" b="1" dirty="0">
                <a:solidFill>
                  <a:srgbClr val="202060"/>
                </a:solidFill>
                <a:latin typeface="Calibri"/>
              </a:rPr>
              <a:t>What Phase A delivers.  </a:t>
            </a:r>
            <a:r>
              <a:rPr sz="1700" b="0" dirty="0">
                <a:solidFill>
                  <a:srgbClr val="26262E"/>
                </a:solidFill>
                <a:latin typeface="Calibri"/>
              </a:rPr>
              <a:t>A fully specified, unsupervised, interpretable, transferable LLM-based method for authorship-anomaly detection </a:t>
            </a:r>
            <a:r>
              <a:rPr lang="en-IL" sz="1700" b="0" dirty="0">
                <a:solidFill>
                  <a:srgbClr val="26262E"/>
                </a:solidFill>
                <a:latin typeface="Calibri"/>
              </a:rPr>
              <a:t>-</a:t>
            </a:r>
            <a:r>
              <a:rPr sz="1700" b="0" dirty="0">
                <a:solidFill>
                  <a:srgbClr val="26262E"/>
                </a:solidFill>
                <a:latin typeface="Calibri"/>
              </a:rPr>
              <a:t> with metric, algorithm, evaluation, and risks all defined.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700" b="1" dirty="0">
                <a:solidFill>
                  <a:srgbClr val="0E7C86"/>
                </a:solidFill>
                <a:latin typeface="Calibri"/>
              </a:rPr>
              <a:t>▪  </a:t>
            </a:r>
            <a:r>
              <a:rPr sz="1700" b="1" dirty="0">
                <a:solidFill>
                  <a:srgbClr val="202060"/>
                </a:solidFill>
                <a:latin typeface="Calibri"/>
              </a:rPr>
              <a:t>Why it matters.  </a:t>
            </a:r>
            <a:r>
              <a:rPr sz="1700" b="0" dirty="0">
                <a:solidFill>
                  <a:srgbClr val="26262E"/>
                </a:solidFill>
                <a:latin typeface="Calibri"/>
              </a:rPr>
              <a:t>It needs no comparison corpus and no training, and its output reads directly in stylistic terms </a:t>
            </a:r>
            <a:r>
              <a:rPr lang="en-US" sz="1700" b="0" dirty="0">
                <a:solidFill>
                  <a:srgbClr val="26262E"/>
                </a:solidFill>
                <a:latin typeface="Calibri"/>
              </a:rPr>
              <a:t>-</a:t>
            </a:r>
            <a:r>
              <a:rPr sz="1700" b="0" dirty="0">
                <a:solidFill>
                  <a:srgbClr val="26262E"/>
                </a:solidFill>
                <a:latin typeface="Calibri"/>
              </a:rPr>
              <a:t> a complementary cross-check to existing methods.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2060"/>
                </a:solidFill>
                <a:latin typeface="Calibri"/>
              </a:rPr>
              <a:t>What's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26280"/>
            <a:ext cx="106984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0E7C86"/>
                </a:solidFill>
                <a:latin typeface="Calibri"/>
              </a:rPr>
              <a:t>▪  </a:t>
            </a:r>
            <a:r>
              <a:rPr sz="1550" b="0">
                <a:solidFill>
                  <a:srgbClr val="26262E"/>
                </a:solidFill>
                <a:latin typeface="Calibri"/>
              </a:rPr>
              <a:t>Phase B implements and validates the method end-to-end, then compares the distance-metric family and reports which separates best.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0E7C86"/>
                </a:solidFill>
                <a:latin typeface="Calibri"/>
              </a:rPr>
              <a:t>▪  </a:t>
            </a:r>
            <a:r>
              <a:rPr sz="1550" b="0">
                <a:solidFill>
                  <a:srgbClr val="26262E"/>
                </a:solidFill>
                <a:latin typeface="Calibri"/>
              </a:rPr>
              <a:t>Deliver an open-source, reproducible repository with all results and plots.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3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6E"/>
                </a:solidFill>
                <a:latin typeface="Calibri"/>
              </a:rPr>
              <a:t>26-2-R-6  ·  Multi-Modal LLM Style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8575" y="641908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02060"/>
                </a:solidFill>
                <a:latin typeface="Calibri"/>
              </a:rPr>
              <a:t>14 /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76856" y="3246120"/>
            <a:ext cx="2331720" cy="411480"/>
          </a:xfrm>
          <a:prstGeom prst="roundRect">
            <a:avLst/>
          </a:prstGeom>
          <a:solidFill>
            <a:srgbClr val="2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Unsupervised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28616" y="3246120"/>
            <a:ext cx="2331720" cy="411480"/>
          </a:xfrm>
          <a:prstGeom prst="roundRect">
            <a:avLst/>
          </a:prstGeom>
          <a:solidFill>
            <a:srgbClr val="2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Interpretable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0375" y="3246120"/>
            <a:ext cx="2331720" cy="411480"/>
          </a:xfrm>
          <a:prstGeom prst="roundRect">
            <a:avLst/>
          </a:prstGeom>
          <a:solidFill>
            <a:srgbClr val="2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Transferable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braude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127" y="1371600"/>
            <a:ext cx="2377440" cy="5612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C9D2F0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628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Eliran Melihov   ·   Miron Hanukaiev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C9D2F0"/>
                </a:solidFill>
                <a:latin typeface="Calibri"/>
              </a:rPr>
              <a:t>Advisors: Dr. Renata Avros   ·   Prof. Zeev Volkovich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9D2F0"/>
                </a:solidFill>
                <a:latin typeface="Calibri"/>
              </a:rPr>
              <a:t>github.com/eliranmeleh/Multi-Modal-LLM-Style-Analysis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0080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3266</Words>
  <Application>Microsoft Office PowerPoint</Application>
  <PresentationFormat>Widescreen</PresentationFormat>
  <Paragraphs>289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Eliran Melihov</cp:lastModifiedBy>
  <cp:revision>29</cp:revision>
  <dcterms:created xsi:type="dcterms:W3CDTF">2013-01-27T09:14:16Z</dcterms:created>
  <dcterms:modified xsi:type="dcterms:W3CDTF">2026-07-05T07:45:18Z</dcterms:modified>
  <cp:category/>
</cp:coreProperties>
</file>